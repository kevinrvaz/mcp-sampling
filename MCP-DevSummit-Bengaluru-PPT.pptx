
<file path=[Content_Types].xml><?xml version="1.0" encoding="utf-8"?>
<Types xmlns="http://schemas.openxmlformats.org/package/2006/content-types">
  <Default Extension="fntdata" ContentType="application/x-fontdata"/>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69" r:id="rId5"/>
    <p:sldId id="259" r:id="rId6"/>
    <p:sldId id="261" r:id="rId7"/>
    <p:sldId id="260" r:id="rId8"/>
    <p:sldId id="264" r:id="rId9"/>
    <p:sldId id="267" r:id="rId10"/>
    <p:sldId id="270" r:id="rId11"/>
    <p:sldId id="268" r:id="rId12"/>
    <p:sldId id="266" r:id="rId13"/>
    <p:sldId id="263" r:id="rId14"/>
  </p:sldIdLst>
  <p:sldSz cx="9144000" cy="5143500" type="screen16x9"/>
  <p:notesSz cx="6858000" cy="9144000"/>
  <p:embeddedFontLst>
    <p:embeddedFont>
      <p:font typeface="Comic Sans MS" panose="030F0902030302020204" pitchFamily="66" charset="0"/>
      <p:regular r:id="rId16"/>
    </p:embeddedFont>
    <p:embeddedFont>
      <p:font typeface="Georgia" panose="02040502050405020303" pitchFamily="18" charset="0"/>
      <p:regular r:id="rId17"/>
      <p:bold r:id="rId18"/>
      <p:italic r:id="rId19"/>
      <p:boldItalic r:id="rId20"/>
    </p:embeddedFont>
    <p:embeddedFont>
      <p:font typeface="Red Hat Display Black" panose="02010303040201060303" pitchFamily="2" charset="0"/>
      <p:bold r:id="rId21"/>
      <p:italic r:id="rId22"/>
      <p:boldItalic r:id="rId23"/>
    </p:embeddedFont>
    <p:embeddedFont>
      <p:font typeface="Red Hat Display Medium" panose="02010303040201060303"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v9C/rPJESZGB3dLjjSIvqORN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82"/>
    <p:restoredTop sz="96203"/>
  </p:normalViewPr>
  <p:slideViewPr>
    <p:cSldViewPr snapToGrid="0">
      <p:cViewPr varScale="1">
        <p:scale>
          <a:sx n="169" d="100"/>
          <a:sy n="169" d="100"/>
        </p:scale>
        <p:origin x="184" y="3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Hi Everyone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My name is Kevin Vaz, and </a:t>
            </a:r>
            <a:r>
              <a:rPr lang="en-US" dirty="0" err="1"/>
              <a:t>i</a:t>
            </a:r>
            <a:r>
              <a:rPr lang="en-US" dirty="0"/>
              <a:t> work at SmartBear as a senior software engineer on the API contract testing product and maintaining its SmartBear MCP integration, </a:t>
            </a:r>
            <a:r>
              <a:rPr lang="en-US" dirty="0" err="1"/>
              <a:t>i</a:t>
            </a:r>
            <a:r>
              <a:rPr lang="en-US" dirty="0"/>
              <a:t> won't go into detail on what API contract testing is, but if anyone is interested we can chat after the talk.</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Sampling is an interesting feature which </a:t>
            </a:r>
            <a:r>
              <a:rPr lang="en-US" dirty="0" err="1"/>
              <a:t>i</a:t>
            </a:r>
            <a:r>
              <a:rPr lang="en-US" dirty="0"/>
              <a:t> came across while working on the </a:t>
            </a:r>
            <a:r>
              <a:rPr lang="en-US" dirty="0" err="1"/>
              <a:t>smarbear</a:t>
            </a:r>
            <a:r>
              <a:rPr lang="en-US" dirty="0"/>
              <a:t> </a:t>
            </a:r>
            <a:r>
              <a:rPr lang="en-US" dirty="0" err="1"/>
              <a:t>mcp</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This is the agenda for this talk </a:t>
            </a:r>
            <a:r>
              <a:rPr lang="en-US" dirty="0" err="1"/>
              <a:t>i</a:t>
            </a:r>
            <a:r>
              <a:rPr lang="en-US" dirty="0"/>
              <a:t> will be talking about when do you use sampling, what is sampling, what are some of its capabilities, how does it work internally, some demos on different ways you can use sampling as well as how did </a:t>
            </a:r>
            <a:r>
              <a:rPr lang="en-US" dirty="0" err="1"/>
              <a:t>i</a:t>
            </a:r>
            <a:r>
              <a:rPr lang="en-US" dirty="0"/>
              <a:t> use it in </a:t>
            </a:r>
            <a:r>
              <a:rPr lang="en-US" dirty="0" err="1"/>
              <a:t>smartbear</a:t>
            </a:r>
            <a:r>
              <a:rPr lang="en-US" dirty="0"/>
              <a:t> </a:t>
            </a:r>
            <a:r>
              <a:rPr lang="en-US" dirty="0" err="1"/>
              <a:t>mcp</a:t>
            </a:r>
            <a:r>
              <a:rPr lang="en-US" dirty="0"/>
              <a:t>, some challenges that you can encounter while adopting it and future path forward for sampling.</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So you want to build ai powered </a:t>
            </a:r>
            <a:r>
              <a:rPr lang="en-US" dirty="0" err="1"/>
              <a:t>mcp</a:t>
            </a:r>
            <a:r>
              <a:rPr lang="en-US" dirty="0"/>
              <a:t> tools?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there are two challenges u will face, making integrations with specific </a:t>
            </a:r>
            <a:r>
              <a:rPr lang="en-US" dirty="0" err="1"/>
              <a:t>llms</a:t>
            </a:r>
            <a:endParaRPr lang="en-US" dirty="0"/>
          </a:p>
          <a:p>
            <a:pPr marL="0" lvl="0" indent="0" algn="l" rtl="0">
              <a:lnSpc>
                <a:spcPct val="100000"/>
              </a:lnSpc>
              <a:spcBef>
                <a:spcPts val="0"/>
              </a:spcBef>
              <a:spcAft>
                <a:spcPts val="0"/>
              </a:spcAft>
              <a:buSzPts val="1100"/>
              <a:buNone/>
            </a:pPr>
            <a:r>
              <a:rPr lang="en-US" dirty="0"/>
              <a:t>and users will not be able to control the flow in specific integrations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65" name="Google Shape;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FD775990-ED55-D38A-8E5C-DE46CDB234E1}"/>
            </a:ext>
          </a:extLst>
        </p:cNvPr>
        <p:cNvGrpSpPr/>
        <p:nvPr/>
      </p:nvGrpSpPr>
      <p:grpSpPr>
        <a:xfrm>
          <a:off x="0" y="0"/>
          <a:ext cx="0" cy="0"/>
          <a:chOff x="0" y="0"/>
          <a:chExt cx="0" cy="0"/>
        </a:xfrm>
      </p:grpSpPr>
      <p:sp>
        <p:nvSpPr>
          <p:cNvPr id="64" name="Google Shape;64;p3:notes">
            <a:extLst>
              <a:ext uri="{FF2B5EF4-FFF2-40B4-BE49-F238E27FC236}">
                <a16:creationId xmlns:a16="http://schemas.microsoft.com/office/drawing/2014/main" id="{DEAAC530-B7DC-67AD-0AD8-41C9C1819F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sampling is when the server can access an LLM via a client without needing it at the server's end</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now an important point to note here is generally in the </a:t>
            </a:r>
            <a:r>
              <a:rPr lang="en-US" dirty="0" err="1"/>
              <a:t>mcp</a:t>
            </a:r>
            <a:r>
              <a:rPr lang="en-US" dirty="0"/>
              <a:t> client and </a:t>
            </a:r>
            <a:r>
              <a:rPr lang="en-US" dirty="0" err="1"/>
              <a:t>mcp</a:t>
            </a:r>
            <a:r>
              <a:rPr lang="en-US" dirty="0"/>
              <a:t> server connections the client initiates requests to a server and the server responds back, in this case the flow is flipped and the server will now send requests to a client and the client responds back with </a:t>
            </a:r>
            <a:r>
              <a:rPr lang="en-US" dirty="0" err="1"/>
              <a:t>llm</a:t>
            </a:r>
            <a:r>
              <a:rPr lang="en-US" dirty="0"/>
              <a:t> responses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
        <p:nvSpPr>
          <p:cNvPr id="65" name="Google Shape;65;p3:notes">
            <a:extLst>
              <a:ext uri="{FF2B5EF4-FFF2-40B4-BE49-F238E27FC236}">
                <a16:creationId xmlns:a16="http://schemas.microsoft.com/office/drawing/2014/main" id="{7B13C8A5-0F01-7CCD-749C-473B43597F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19606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84" name="Google Shape;8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7" name="Google Shape;7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0FECE454-7F05-7C19-B4F1-C21D121D20DD}"/>
            </a:ext>
          </a:extLst>
        </p:cNvPr>
        <p:cNvGrpSpPr/>
        <p:nvPr/>
      </p:nvGrpSpPr>
      <p:grpSpPr>
        <a:xfrm>
          <a:off x="0" y="0"/>
          <a:ext cx="0" cy="0"/>
          <a:chOff x="0" y="0"/>
          <a:chExt cx="0" cy="0"/>
        </a:xfrm>
      </p:grpSpPr>
      <p:sp>
        <p:nvSpPr>
          <p:cNvPr id="76" name="Google Shape;76;p5:notes">
            <a:extLst>
              <a:ext uri="{FF2B5EF4-FFF2-40B4-BE49-F238E27FC236}">
                <a16:creationId xmlns:a16="http://schemas.microsoft.com/office/drawing/2014/main" id="{03905B1A-B600-7075-9458-3FE98D7B5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7" name="Google Shape;77;p5:notes">
            <a:extLst>
              <a:ext uri="{FF2B5EF4-FFF2-40B4-BE49-F238E27FC236}">
                <a16:creationId xmlns:a16="http://schemas.microsoft.com/office/drawing/2014/main" id="{6B144815-CAD1-2D81-C6F3-C3F3C0D0EB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48511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84572B90-898D-1E6F-4438-461355539DB8}"/>
            </a:ext>
          </a:extLst>
        </p:cNvPr>
        <p:cNvGrpSpPr/>
        <p:nvPr/>
      </p:nvGrpSpPr>
      <p:grpSpPr>
        <a:xfrm>
          <a:off x="0" y="0"/>
          <a:ext cx="0" cy="0"/>
          <a:chOff x="0" y="0"/>
          <a:chExt cx="0" cy="0"/>
        </a:xfrm>
      </p:grpSpPr>
      <p:sp>
        <p:nvSpPr>
          <p:cNvPr id="88" name="Google Shape;88;p7:notes">
            <a:extLst>
              <a:ext uri="{FF2B5EF4-FFF2-40B4-BE49-F238E27FC236}">
                <a16:creationId xmlns:a16="http://schemas.microsoft.com/office/drawing/2014/main" id="{C10E6AAB-C545-C809-FB88-335CB8529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89" name="Google Shape;89;p7:notes">
            <a:extLst>
              <a:ext uri="{FF2B5EF4-FFF2-40B4-BE49-F238E27FC236}">
                <a16:creationId xmlns:a16="http://schemas.microsoft.com/office/drawing/2014/main" id="{688291BE-8685-B141-04CD-FFE47659D3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well see some of these use cases in action with a small tui that </a:t>
            </a:r>
            <a:r>
              <a:rPr lang="en-US" dirty="0" err="1"/>
              <a:t>i</a:t>
            </a:r>
            <a:r>
              <a:rPr lang="en-US" dirty="0"/>
              <a:t> have built which contains a host application as well as an </a:t>
            </a:r>
            <a:r>
              <a:rPr lang="en-US" dirty="0" err="1"/>
              <a:t>mcp</a:t>
            </a:r>
            <a:r>
              <a:rPr lang="en-US" dirty="0"/>
              <a:t> </a:t>
            </a:r>
            <a:r>
              <a:rPr lang="en-US" dirty="0" err="1"/>
              <a:t>json</a:t>
            </a:r>
            <a:r>
              <a:rPr lang="en-US" dirty="0"/>
              <a:t> </a:t>
            </a:r>
            <a:r>
              <a:rPr lang="en-US" dirty="0" err="1"/>
              <a:t>rpc</a:t>
            </a:r>
            <a:r>
              <a:rPr lang="en-US" dirty="0"/>
              <a:t> inspector</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the </a:t>
            </a:r>
            <a:r>
              <a:rPr lang="en-US" dirty="0" err="1"/>
              <a:t>json</a:t>
            </a:r>
            <a:r>
              <a:rPr lang="en-US" dirty="0"/>
              <a:t> </a:t>
            </a:r>
            <a:r>
              <a:rPr lang="en-US" dirty="0" err="1"/>
              <a:t>rpc</a:t>
            </a:r>
            <a:r>
              <a:rPr lang="en-US" dirty="0"/>
              <a:t> inspector is divided into 3 parts a flow diagram which will keep changing based on </a:t>
            </a:r>
            <a:r>
              <a:rPr lang="en-US" dirty="0" err="1"/>
              <a:t>whats</a:t>
            </a:r>
            <a:r>
              <a:rPr lang="en-US" dirty="0"/>
              <a:t> happening in the host application</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events </a:t>
            </a:r>
            <a:r>
              <a:rPr lang="en-US" dirty="0" err="1"/>
              <a:t>recieved</a:t>
            </a:r>
            <a:r>
              <a:rPr lang="en-US" dirty="0"/>
              <a:t> and sent by the </a:t>
            </a:r>
            <a:r>
              <a:rPr lang="en-US" dirty="0" err="1"/>
              <a:t>mcp</a:t>
            </a:r>
            <a:r>
              <a:rPr lang="en-US" dirty="0"/>
              <a:t> client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and events </a:t>
            </a:r>
            <a:r>
              <a:rPr lang="en-US" dirty="0" err="1"/>
              <a:t>recieved</a:t>
            </a:r>
            <a:r>
              <a:rPr lang="en-US" dirty="0"/>
              <a:t> and sent by the </a:t>
            </a:r>
            <a:r>
              <a:rPr lang="en-US" dirty="0" err="1"/>
              <a:t>mcp</a:t>
            </a:r>
            <a:r>
              <a:rPr lang="en-US" dirty="0"/>
              <a:t> server</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now the first thing </a:t>
            </a:r>
            <a:r>
              <a:rPr lang="en-US" dirty="0" err="1"/>
              <a:t>mcp</a:t>
            </a:r>
            <a:r>
              <a:rPr lang="en-US" dirty="0"/>
              <a:t> client does it sends what does it support and u can see the sampling and tools nested </a:t>
            </a:r>
            <a:r>
              <a:rPr lang="en-US" dirty="0" err="1"/>
              <a:t>jsons</a:t>
            </a:r>
            <a:r>
              <a:rPr lang="en-US" dirty="0"/>
              <a:t> that we saw earlier and the server will also respond with what does it support, its then followed by a tools/list operation and we see the server send back those out sampling server tools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next lets test our sampling feature in the host app by getting it to </a:t>
            </a:r>
            <a:r>
              <a:rPr lang="en-US" dirty="0" err="1"/>
              <a:t>sumarize</a:t>
            </a:r>
            <a:r>
              <a:rPr lang="en-US" dirty="0"/>
              <a:t> a pdf and we can see that that the server sends a sampling/createMessage request to the </a:t>
            </a:r>
            <a:r>
              <a:rPr lang="en-US" dirty="0" err="1"/>
              <a:t>mcp</a:t>
            </a:r>
            <a:r>
              <a:rPr lang="en-US" dirty="0"/>
              <a:t> client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now the client has </a:t>
            </a:r>
            <a:r>
              <a:rPr lang="en-US" dirty="0" err="1"/>
              <a:t>recieved</a:t>
            </a:r>
            <a:r>
              <a:rPr lang="en-US" dirty="0"/>
              <a:t> the sampling request but </a:t>
            </a:r>
            <a:r>
              <a:rPr lang="en-US" dirty="0" err="1"/>
              <a:t>hasnt</a:t>
            </a:r>
            <a:r>
              <a:rPr lang="en-US" dirty="0"/>
              <a:t> executed it yet as we </a:t>
            </a:r>
            <a:r>
              <a:rPr lang="en-US" dirty="0" err="1"/>
              <a:t>didnt</a:t>
            </a:r>
            <a:r>
              <a:rPr lang="en-US" dirty="0"/>
              <a:t> give it permission to do so lets do that and we see very quickly that we got the result client and it sent it to the server and which then sent it back to the client and we can see the summary of the pdf</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now lets try an agentic flow well do that. by using a question that used from a benchmark called general ai assistant which tests how well a model can reasoning through a problem and use tools in order to solve that problem</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45583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84572B90-898D-1E6F-4438-461355539DB8}"/>
            </a:ext>
          </a:extLst>
        </p:cNvPr>
        <p:cNvGrpSpPr/>
        <p:nvPr/>
      </p:nvGrpSpPr>
      <p:grpSpPr>
        <a:xfrm>
          <a:off x="0" y="0"/>
          <a:ext cx="0" cy="0"/>
          <a:chOff x="0" y="0"/>
          <a:chExt cx="0" cy="0"/>
        </a:xfrm>
      </p:grpSpPr>
      <p:sp>
        <p:nvSpPr>
          <p:cNvPr id="88" name="Google Shape;88;p7:notes">
            <a:extLst>
              <a:ext uri="{FF2B5EF4-FFF2-40B4-BE49-F238E27FC236}">
                <a16:creationId xmlns:a16="http://schemas.microsoft.com/office/drawing/2014/main" id="{C10E6AAB-C545-C809-FB88-335CB8529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89" name="Google Shape;89;p7:notes">
            <a:extLst>
              <a:ext uri="{FF2B5EF4-FFF2-40B4-BE49-F238E27FC236}">
                <a16:creationId xmlns:a16="http://schemas.microsoft.com/office/drawing/2014/main" id="{688291BE-8685-B141-04CD-FFE47659D3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4722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8B1455EE-F848-B11B-F5C5-830F2D34DD6D}"/>
            </a:ext>
          </a:extLst>
        </p:cNvPr>
        <p:cNvGrpSpPr/>
        <p:nvPr/>
      </p:nvGrpSpPr>
      <p:grpSpPr>
        <a:xfrm>
          <a:off x="0" y="0"/>
          <a:ext cx="0" cy="0"/>
          <a:chOff x="0" y="0"/>
          <a:chExt cx="0" cy="0"/>
        </a:xfrm>
      </p:grpSpPr>
      <p:sp>
        <p:nvSpPr>
          <p:cNvPr id="76" name="Google Shape;76;p5:notes">
            <a:extLst>
              <a:ext uri="{FF2B5EF4-FFF2-40B4-BE49-F238E27FC236}">
                <a16:creationId xmlns:a16="http://schemas.microsoft.com/office/drawing/2014/main" id="{36BA07EF-A5F3-EF80-3A8D-D28AAA3425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7" name="Google Shape;77;p5:notes">
            <a:extLst>
              <a:ext uri="{FF2B5EF4-FFF2-40B4-BE49-F238E27FC236}">
                <a16:creationId xmlns:a16="http://schemas.microsoft.com/office/drawing/2014/main" id="{3F5EF751-561C-D725-EF30-12699DA88C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919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264CC01B-0FD1-964D-23F1-D96E15BBB098}"/>
            </a:ext>
          </a:extLst>
        </p:cNvPr>
        <p:cNvGrpSpPr/>
        <p:nvPr/>
      </p:nvGrpSpPr>
      <p:grpSpPr>
        <a:xfrm>
          <a:off x="0" y="0"/>
          <a:ext cx="0" cy="0"/>
          <a:chOff x="0" y="0"/>
          <a:chExt cx="0" cy="0"/>
        </a:xfrm>
      </p:grpSpPr>
      <p:sp>
        <p:nvSpPr>
          <p:cNvPr id="88" name="Google Shape;88;p7:notes">
            <a:extLst>
              <a:ext uri="{FF2B5EF4-FFF2-40B4-BE49-F238E27FC236}">
                <a16:creationId xmlns:a16="http://schemas.microsoft.com/office/drawing/2014/main" id="{5010B511-27CA-8BEA-3A5C-C1D522E927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89" name="Google Shape;89;p7:notes">
            <a:extLst>
              <a:ext uri="{FF2B5EF4-FFF2-40B4-BE49-F238E27FC236}">
                <a16:creationId xmlns:a16="http://schemas.microsoft.com/office/drawing/2014/main" id="{821BFC6F-A684-84EA-EF13-48A3235332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9654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2">
            <a:alphaModFix/>
          </a:blip>
          <a:srcRect l="9638" t="34584" r="11088" b="20485"/>
          <a:stretch/>
        </p:blipFill>
        <p:spPr>
          <a:xfrm>
            <a:off x="6152321" y="0"/>
            <a:ext cx="2991679" cy="5143500"/>
          </a:xfrm>
          <a:prstGeom prst="rect">
            <a:avLst/>
          </a:prstGeom>
          <a:noFill/>
          <a:ln>
            <a:noFill/>
          </a:ln>
        </p:spPr>
      </p:pic>
      <p:sp>
        <p:nvSpPr>
          <p:cNvPr id="11" name="Google Shape;11;p10"/>
          <p:cNvSpPr txBox="1">
            <a:spLocks noGrp="1"/>
          </p:cNvSpPr>
          <p:nvPr>
            <p:ph type="ctrTitle"/>
          </p:nvPr>
        </p:nvSpPr>
        <p:spPr>
          <a:xfrm>
            <a:off x="311215" y="1251446"/>
            <a:ext cx="8010201" cy="2024438"/>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2" name="Google Shape;12;p10"/>
          <p:cNvSpPr txBox="1">
            <a:spLocks noGrp="1"/>
          </p:cNvSpPr>
          <p:nvPr>
            <p:ph type="subTitle" idx="1"/>
          </p:nvPr>
        </p:nvSpPr>
        <p:spPr>
          <a:xfrm>
            <a:off x="311214" y="3275884"/>
            <a:ext cx="8010201" cy="609254"/>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pic>
        <p:nvPicPr>
          <p:cNvPr id="13" name="Google Shape;13;p10" title="mcp_devsummit_bengaluru_color_reversed.png"/>
          <p:cNvPicPr preferRelativeResize="0"/>
          <p:nvPr/>
        </p:nvPicPr>
        <p:blipFill rotWithShape="1">
          <a:blip r:embed="rId3">
            <a:alphaModFix/>
          </a:blip>
          <a:srcRect/>
          <a:stretch/>
        </p:blipFill>
        <p:spPr>
          <a:xfrm>
            <a:off x="348975" y="0"/>
            <a:ext cx="1925475" cy="11812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pic>
        <p:nvPicPr>
          <p:cNvPr id="15" name="Google Shape;15;p11"/>
          <p:cNvPicPr preferRelativeResize="0"/>
          <p:nvPr/>
        </p:nvPicPr>
        <p:blipFill rotWithShape="1">
          <a:blip r:embed="rId2">
            <a:alphaModFix/>
          </a:blip>
          <a:srcRect l="9638" t="34584" r="11088" b="20485"/>
          <a:stretch/>
        </p:blipFill>
        <p:spPr>
          <a:xfrm>
            <a:off x="6152321" y="0"/>
            <a:ext cx="2991679" cy="5143500"/>
          </a:xfrm>
          <a:prstGeom prst="rect">
            <a:avLst/>
          </a:prstGeom>
          <a:noFill/>
          <a:ln>
            <a:noFill/>
          </a:ln>
        </p:spPr>
      </p:pic>
      <p:sp>
        <p:nvSpPr>
          <p:cNvPr id="16" name="Google Shape;16;p11"/>
          <p:cNvSpPr txBox="1">
            <a:spLocks noGrp="1"/>
          </p:cNvSpPr>
          <p:nvPr>
            <p:ph type="title"/>
          </p:nvPr>
        </p:nvSpPr>
        <p:spPr>
          <a:xfrm>
            <a:off x="311700" y="1940538"/>
            <a:ext cx="8520600" cy="841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pic>
        <p:nvPicPr>
          <p:cNvPr id="17" name="Google Shape;17;p11" title="mcp_devsummit_bengaluru_color_reversed.png"/>
          <p:cNvPicPr preferRelativeResize="0"/>
          <p:nvPr/>
        </p:nvPicPr>
        <p:blipFill rotWithShape="1">
          <a:blip r:embed="rId3">
            <a:alphaModFix/>
          </a:blip>
          <a:srcRect/>
          <a:stretch/>
        </p:blipFill>
        <p:spPr>
          <a:xfrm>
            <a:off x="115175" y="4374000"/>
            <a:ext cx="1254325" cy="769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051932">
            <a:alpha val="0"/>
          </a:srgbClr>
        </a:solidFill>
        <a:effectLst/>
      </p:bgPr>
    </p:bg>
    <p:spTree>
      <p:nvGrpSpPr>
        <p:cNvPr id="1" name="Shape 18"/>
        <p:cNvGrpSpPr/>
        <p:nvPr/>
      </p:nvGrpSpPr>
      <p:grpSpPr>
        <a:xfrm>
          <a:off x="0" y="0"/>
          <a:ext cx="0" cy="0"/>
          <a:chOff x="0" y="0"/>
          <a:chExt cx="0" cy="0"/>
        </a:xfrm>
      </p:grpSpPr>
      <p:sp>
        <p:nvSpPr>
          <p:cNvPr id="19" name="Google Shape;19;p12"/>
          <p:cNvSpPr txBox="1">
            <a:spLocks noGrp="1"/>
          </p:cNvSpPr>
          <p:nvPr>
            <p:ph type="sldNum" idx="12"/>
          </p:nvPr>
        </p:nvSpPr>
        <p:spPr>
          <a:xfrm>
            <a:off x="8283600" y="4601762"/>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0" name="Google Shape;20;p12"/>
          <p:cNvSpPr/>
          <p:nvPr/>
        </p:nvSpPr>
        <p:spPr>
          <a:xfrm>
            <a:off x="0" y="0"/>
            <a:ext cx="9144000" cy="1020588"/>
          </a:xfrm>
          <a:prstGeom prst="rect">
            <a:avLst/>
          </a:prstGeom>
          <a:solidFill>
            <a:srgbClr val="0518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 name="Google Shape;21;p12"/>
          <p:cNvSpPr txBox="1">
            <a:spLocks noGrp="1"/>
          </p:cNvSpPr>
          <p:nvPr>
            <p:ph type="title"/>
          </p:nvPr>
        </p:nvSpPr>
        <p:spPr>
          <a:xfrm>
            <a:off x="311700" y="237599"/>
            <a:ext cx="8520600" cy="5727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2800"/>
              <a:buNone/>
              <a:defRPr sz="2400" b="1" i="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2"/>
          <p:cNvSpPr txBox="1">
            <a:spLocks noGrp="1"/>
          </p:cNvSpPr>
          <p:nvPr>
            <p:ph type="body" idx="1"/>
          </p:nvPr>
        </p:nvSpPr>
        <p:spPr>
          <a:xfrm>
            <a:off x="311700" y="1152475"/>
            <a:ext cx="8520600" cy="3317400"/>
          </a:xfrm>
          <a:prstGeom prst="rect">
            <a:avLst/>
          </a:prstGeom>
          <a:noFill/>
          <a:ln>
            <a:noFill/>
          </a:ln>
        </p:spPr>
        <p:txBody>
          <a:bodyPr spcFirstLastPara="1" wrap="square" lIns="0" tIns="0" rIns="0" bIns="0"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pic>
        <p:nvPicPr>
          <p:cNvPr id="23" name="Google Shape;23;p12" title="mcp_devsummit_bengaluru_color.png"/>
          <p:cNvPicPr preferRelativeResize="0"/>
          <p:nvPr/>
        </p:nvPicPr>
        <p:blipFill rotWithShape="1">
          <a:blip r:embed="rId2">
            <a:alphaModFix/>
          </a:blip>
          <a:srcRect l="130" r="120"/>
          <a:stretch/>
        </p:blipFill>
        <p:spPr>
          <a:xfrm>
            <a:off x="117700" y="4469875"/>
            <a:ext cx="1173250" cy="7215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cSld name="1_Title and body">
    <p:bg>
      <p:bgPr>
        <a:solidFill>
          <a:srgbClr val="051932">
            <a:alpha val="0"/>
          </a:srgbClr>
        </a:solidFill>
        <a:effectLst/>
      </p:bgPr>
    </p:bg>
    <p:spTree>
      <p:nvGrpSpPr>
        <p:cNvPr id="1" name="Shape 24"/>
        <p:cNvGrpSpPr/>
        <p:nvPr/>
      </p:nvGrpSpPr>
      <p:grpSpPr>
        <a:xfrm>
          <a:off x="0" y="0"/>
          <a:ext cx="0" cy="0"/>
          <a:chOff x="0" y="0"/>
          <a:chExt cx="0" cy="0"/>
        </a:xfrm>
      </p:grpSpPr>
      <p:sp>
        <p:nvSpPr>
          <p:cNvPr id="25" name="Google Shape;25;p13"/>
          <p:cNvSpPr/>
          <p:nvPr/>
        </p:nvSpPr>
        <p:spPr>
          <a:xfrm>
            <a:off x="0" y="0"/>
            <a:ext cx="9144000" cy="1020588"/>
          </a:xfrm>
          <a:prstGeom prst="rect">
            <a:avLst/>
          </a:prstGeom>
          <a:solidFill>
            <a:srgbClr val="0518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 name="Google Shape;26;p13"/>
          <p:cNvSpPr txBox="1">
            <a:spLocks noGrp="1"/>
          </p:cNvSpPr>
          <p:nvPr>
            <p:ph type="sldNum" idx="12"/>
          </p:nvPr>
        </p:nvSpPr>
        <p:spPr>
          <a:xfrm>
            <a:off x="8283600" y="4601762"/>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13"/>
          <p:cNvSpPr txBox="1">
            <a:spLocks noGrp="1"/>
          </p:cNvSpPr>
          <p:nvPr>
            <p:ph type="title"/>
          </p:nvPr>
        </p:nvSpPr>
        <p:spPr>
          <a:xfrm>
            <a:off x="177900" y="223949"/>
            <a:ext cx="8520600" cy="5727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2800"/>
              <a:buNone/>
              <a:defRPr sz="2400" b="1" i="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13"/>
          <p:cNvSpPr txBox="1">
            <a:spLocks noGrp="1"/>
          </p:cNvSpPr>
          <p:nvPr>
            <p:ph type="body" idx="1"/>
          </p:nvPr>
        </p:nvSpPr>
        <p:spPr>
          <a:xfrm>
            <a:off x="311700" y="1152475"/>
            <a:ext cx="8520600" cy="3317400"/>
          </a:xfrm>
          <a:prstGeom prst="rect">
            <a:avLst/>
          </a:prstGeom>
          <a:noFill/>
          <a:ln>
            <a:noFill/>
          </a:ln>
        </p:spPr>
        <p:txBody>
          <a:bodyPr spcFirstLastPara="1" wrap="square" lIns="0" tIns="0" rIns="0" bIns="0"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pic>
        <p:nvPicPr>
          <p:cNvPr id="29" name="Google Shape;29;p13" title="mcp_devsummit_bengaluru_color_reversed.png"/>
          <p:cNvPicPr preferRelativeResize="0"/>
          <p:nvPr/>
        </p:nvPicPr>
        <p:blipFill rotWithShape="1">
          <a:blip r:embed="rId2">
            <a:alphaModFix/>
          </a:blip>
          <a:srcRect/>
          <a:stretch/>
        </p:blipFill>
        <p:spPr>
          <a:xfrm>
            <a:off x="7577975" y="125550"/>
            <a:ext cx="1254325" cy="7695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051932">
            <a:alpha val="0"/>
          </a:srgbClr>
        </a:solidFill>
        <a:effectLst/>
      </p:bgPr>
    </p:bg>
    <p:spTree>
      <p:nvGrpSpPr>
        <p:cNvPr id="1" name="Shape 30"/>
        <p:cNvGrpSpPr/>
        <p:nvPr/>
      </p:nvGrpSpPr>
      <p:grpSpPr>
        <a:xfrm>
          <a:off x="0" y="0"/>
          <a:ext cx="0" cy="0"/>
          <a:chOff x="0" y="0"/>
          <a:chExt cx="0" cy="0"/>
        </a:xfrm>
      </p:grpSpPr>
      <p:sp>
        <p:nvSpPr>
          <p:cNvPr id="31" name="Google Shape;31;p14"/>
          <p:cNvSpPr/>
          <p:nvPr/>
        </p:nvSpPr>
        <p:spPr>
          <a:xfrm>
            <a:off x="0" y="0"/>
            <a:ext cx="9144000" cy="1020588"/>
          </a:xfrm>
          <a:prstGeom prst="rect">
            <a:avLst/>
          </a:prstGeom>
          <a:solidFill>
            <a:srgbClr val="0518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 name="Google Shape;32;p14"/>
          <p:cNvSpPr txBox="1">
            <a:spLocks noGrp="1"/>
          </p:cNvSpPr>
          <p:nvPr>
            <p:ph type="body" idx="1"/>
          </p:nvPr>
        </p:nvSpPr>
        <p:spPr>
          <a:xfrm>
            <a:off x="311700" y="1152475"/>
            <a:ext cx="3999900" cy="3317400"/>
          </a:xfrm>
          <a:prstGeom prst="rect">
            <a:avLst/>
          </a:prstGeom>
          <a:noFill/>
          <a:ln>
            <a:noFill/>
          </a:ln>
        </p:spPr>
        <p:txBody>
          <a:bodyPr spcFirstLastPara="1" wrap="square" lIns="0" tIns="0" rIns="0" bIns="0"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14"/>
          <p:cNvSpPr txBox="1">
            <a:spLocks noGrp="1"/>
          </p:cNvSpPr>
          <p:nvPr>
            <p:ph type="body" idx="2"/>
          </p:nvPr>
        </p:nvSpPr>
        <p:spPr>
          <a:xfrm>
            <a:off x="4832400" y="1152475"/>
            <a:ext cx="3999900" cy="3317400"/>
          </a:xfrm>
          <a:prstGeom prst="rect">
            <a:avLst/>
          </a:prstGeom>
          <a:noFill/>
          <a:ln>
            <a:noFill/>
          </a:ln>
        </p:spPr>
        <p:txBody>
          <a:bodyPr spcFirstLastPara="1" wrap="square" lIns="0" tIns="0" rIns="0" bIns="0"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14"/>
          <p:cNvSpPr txBox="1">
            <a:spLocks noGrp="1"/>
          </p:cNvSpPr>
          <p:nvPr>
            <p:ph type="sldNum" idx="12"/>
          </p:nvPr>
        </p:nvSpPr>
        <p:spPr>
          <a:xfrm>
            <a:off x="8283600" y="4601762"/>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14"/>
          <p:cNvSpPr txBox="1">
            <a:spLocks noGrp="1"/>
          </p:cNvSpPr>
          <p:nvPr>
            <p:ph type="title"/>
          </p:nvPr>
        </p:nvSpPr>
        <p:spPr>
          <a:xfrm>
            <a:off x="311700" y="237599"/>
            <a:ext cx="8520600" cy="5727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2800"/>
              <a:buNone/>
              <a:defRPr sz="2400" b="1" i="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36" name="Google Shape;36;p14" title="mcp_devsummit_bengaluru_color.png"/>
          <p:cNvPicPr preferRelativeResize="0"/>
          <p:nvPr/>
        </p:nvPicPr>
        <p:blipFill rotWithShape="1">
          <a:blip r:embed="rId2">
            <a:alphaModFix/>
          </a:blip>
          <a:srcRect l="130" r="120"/>
          <a:stretch/>
        </p:blipFill>
        <p:spPr>
          <a:xfrm>
            <a:off x="117700" y="4469875"/>
            <a:ext cx="1173250" cy="7215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051932">
            <a:alpha val="0"/>
          </a:srgbClr>
        </a:solidFill>
        <a:effectLst/>
      </p:bgPr>
    </p:bg>
    <p:spTree>
      <p:nvGrpSpPr>
        <p:cNvPr id="1" name="Shape 37"/>
        <p:cNvGrpSpPr/>
        <p:nvPr/>
      </p:nvGrpSpPr>
      <p:grpSpPr>
        <a:xfrm>
          <a:off x="0" y="0"/>
          <a:ext cx="0" cy="0"/>
          <a:chOff x="0" y="0"/>
          <a:chExt cx="0" cy="0"/>
        </a:xfrm>
      </p:grpSpPr>
      <p:sp>
        <p:nvSpPr>
          <p:cNvPr id="38" name="Google Shape;38;p15"/>
          <p:cNvSpPr/>
          <p:nvPr/>
        </p:nvSpPr>
        <p:spPr>
          <a:xfrm>
            <a:off x="0" y="0"/>
            <a:ext cx="9144000" cy="1020588"/>
          </a:xfrm>
          <a:prstGeom prst="rect">
            <a:avLst/>
          </a:prstGeom>
          <a:solidFill>
            <a:srgbClr val="0518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 name="Google Shape;39;p15"/>
          <p:cNvSpPr txBox="1">
            <a:spLocks noGrp="1"/>
          </p:cNvSpPr>
          <p:nvPr>
            <p:ph type="sldNum" idx="12"/>
          </p:nvPr>
        </p:nvSpPr>
        <p:spPr>
          <a:xfrm>
            <a:off x="8283600" y="4601762"/>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518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15"/>
          <p:cNvSpPr txBox="1">
            <a:spLocks noGrp="1"/>
          </p:cNvSpPr>
          <p:nvPr>
            <p:ph type="title"/>
          </p:nvPr>
        </p:nvSpPr>
        <p:spPr>
          <a:xfrm>
            <a:off x="311700" y="237599"/>
            <a:ext cx="8520600" cy="5727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2800"/>
              <a:buNone/>
              <a:defRPr sz="2400" b="1" i="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41" name="Google Shape;41;p15" title="mcp_devsummit_bengaluru_color.png"/>
          <p:cNvPicPr preferRelativeResize="0"/>
          <p:nvPr/>
        </p:nvPicPr>
        <p:blipFill rotWithShape="1">
          <a:blip r:embed="rId2">
            <a:alphaModFix/>
          </a:blip>
          <a:srcRect l="130" r="120"/>
          <a:stretch/>
        </p:blipFill>
        <p:spPr>
          <a:xfrm>
            <a:off x="117700" y="4469875"/>
            <a:ext cx="1173250" cy="7215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051932">
            <a:alpha val="0"/>
          </a:srgbClr>
        </a:solidFill>
        <a:effectLst/>
      </p:bgPr>
    </p:bg>
    <p:spTree>
      <p:nvGrpSpPr>
        <p:cNvPr id="1" name="Shape 42"/>
        <p:cNvGrpSpPr/>
        <p:nvPr/>
      </p:nvGrpSpPr>
      <p:grpSpPr>
        <a:xfrm>
          <a:off x="0" y="0"/>
          <a:ext cx="0" cy="0"/>
          <a:chOff x="0" y="0"/>
          <a:chExt cx="0" cy="0"/>
        </a:xfrm>
      </p:grpSpPr>
      <p:sp>
        <p:nvSpPr>
          <p:cNvPr id="43" name="Google Shape;43;p16"/>
          <p:cNvSpPr txBox="1">
            <a:spLocks noGrp="1"/>
          </p:cNvSpPr>
          <p:nvPr>
            <p:ph type="sldNum" idx="12"/>
          </p:nvPr>
        </p:nvSpPr>
        <p:spPr>
          <a:xfrm>
            <a:off x="8283600" y="4601762"/>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44" name="Google Shape;44;p16" title="mcp_devsummit_bangalore_color.png"/>
          <p:cNvPicPr preferRelativeResize="0"/>
          <p:nvPr/>
        </p:nvPicPr>
        <p:blipFill rotWithShape="1">
          <a:blip r:embed="rId2">
            <a:alphaModFix/>
          </a:blip>
          <a:srcRect l="130" r="120"/>
          <a:stretch/>
        </p:blipFill>
        <p:spPr>
          <a:xfrm>
            <a:off x="117700" y="4469875"/>
            <a:ext cx="1173250" cy="7215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p:cSld name="Logo">
    <p:spTree>
      <p:nvGrpSpPr>
        <p:cNvPr id="1" name="Shape 45"/>
        <p:cNvGrpSpPr/>
        <p:nvPr/>
      </p:nvGrpSpPr>
      <p:grpSpPr>
        <a:xfrm>
          <a:off x="0" y="0"/>
          <a:ext cx="0" cy="0"/>
          <a:chOff x="0" y="0"/>
          <a:chExt cx="0" cy="0"/>
        </a:xfrm>
      </p:grpSpPr>
      <p:pic>
        <p:nvPicPr>
          <p:cNvPr id="46" name="Google Shape;46;p17"/>
          <p:cNvPicPr preferRelativeResize="0"/>
          <p:nvPr/>
        </p:nvPicPr>
        <p:blipFill rotWithShape="1">
          <a:blip r:embed="rId2">
            <a:alphaModFix/>
          </a:blip>
          <a:srcRect l="9638" t="34584" r="11088" b="20485"/>
          <a:stretch/>
        </p:blipFill>
        <p:spPr>
          <a:xfrm>
            <a:off x="6152321" y="0"/>
            <a:ext cx="2991679" cy="5143500"/>
          </a:xfrm>
          <a:prstGeom prst="rect">
            <a:avLst/>
          </a:prstGeom>
          <a:noFill/>
          <a:ln>
            <a:noFill/>
          </a:ln>
        </p:spPr>
      </p:pic>
      <p:pic>
        <p:nvPicPr>
          <p:cNvPr id="47" name="Google Shape;47;p17" title="mcp_devsummit_bengaluru_color_reversed.png"/>
          <p:cNvPicPr preferRelativeResize="0"/>
          <p:nvPr/>
        </p:nvPicPr>
        <p:blipFill rotWithShape="1">
          <a:blip r:embed="rId3">
            <a:alphaModFix/>
          </a:blip>
          <a:srcRect/>
          <a:stretch/>
        </p:blipFill>
        <p:spPr>
          <a:xfrm>
            <a:off x="749750" y="1103249"/>
            <a:ext cx="3852775" cy="2363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48"/>
        <p:cNvGrpSpPr/>
        <p:nvPr/>
      </p:nvGrpSpPr>
      <p:grpSpPr>
        <a:xfrm>
          <a:off x="0" y="0"/>
          <a:ext cx="0" cy="0"/>
          <a:chOff x="0" y="0"/>
          <a:chExt cx="0" cy="0"/>
        </a:xfrm>
      </p:grpSpPr>
      <p:pic>
        <p:nvPicPr>
          <p:cNvPr id="49" name="Google Shape;49;p18"/>
          <p:cNvPicPr preferRelativeResize="0"/>
          <p:nvPr/>
        </p:nvPicPr>
        <p:blipFill rotWithShape="1">
          <a:blip r:embed="rId2">
            <a:alphaModFix/>
          </a:blip>
          <a:srcRect l="9638" t="34584" r="11088" b="20485"/>
          <a:stretch/>
        </p:blipFill>
        <p:spPr>
          <a:xfrm>
            <a:off x="6152321" y="0"/>
            <a:ext cx="2991679" cy="5143500"/>
          </a:xfrm>
          <a:prstGeom prst="rect">
            <a:avLst/>
          </a:prstGeom>
          <a:noFill/>
          <a:ln>
            <a:noFill/>
          </a:ln>
        </p:spPr>
      </p:pic>
      <p:sp>
        <p:nvSpPr>
          <p:cNvPr id="50" name="Google Shape;50;p18"/>
          <p:cNvSpPr txBox="1">
            <a:spLocks noGrp="1"/>
          </p:cNvSpPr>
          <p:nvPr>
            <p:ph type="title"/>
          </p:nvPr>
        </p:nvSpPr>
        <p:spPr>
          <a:xfrm>
            <a:off x="311700" y="1940538"/>
            <a:ext cx="8520600" cy="841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pic>
        <p:nvPicPr>
          <p:cNvPr id="51" name="Google Shape;51;p18" title="mcp_devsummit_bengaluru_color_reversed.png"/>
          <p:cNvPicPr preferRelativeResize="0"/>
          <p:nvPr/>
        </p:nvPicPr>
        <p:blipFill rotWithShape="1">
          <a:blip r:embed="rId3">
            <a:alphaModFix/>
          </a:blip>
          <a:srcRect/>
          <a:stretch/>
        </p:blipFill>
        <p:spPr>
          <a:xfrm>
            <a:off x="207525" y="4042425"/>
            <a:ext cx="1852550" cy="1136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51932"/>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accent1"/>
              </a:buClr>
              <a:buSzPts val="2800"/>
              <a:buFont typeface="Arial"/>
              <a:buNone/>
              <a:defRPr sz="2800" b="1" i="0" u="none" strike="noStrike" cap="none">
                <a:solidFill>
                  <a:schemeClr val="accent1"/>
                </a:solidFill>
                <a:latin typeface="Red Hat Display Black"/>
                <a:ea typeface="Red Hat Display Black"/>
                <a:cs typeface="Red Hat Display Black"/>
                <a:sym typeface="Red Hat Display Black"/>
              </a:defRPr>
            </a:lvl1pPr>
            <a:lvl2pPr marR="0" lvl="1"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chemeClr val="accent1"/>
              </a:buClr>
              <a:buSzPts val="2800"/>
              <a:buFont typeface="Arial"/>
              <a:buNone/>
              <a:defRPr sz="2800" b="0" i="0" u="none" strike="noStrike" cap="none">
                <a:solidFill>
                  <a:schemeClr val="accent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Red Hat Display Medium"/>
                <a:ea typeface="Red Hat Display Medium"/>
                <a:cs typeface="Red Hat Display Medium"/>
                <a:sym typeface="Red Hat Display Medium"/>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a:spLocks noGrp="1"/>
          </p:cNvSpPr>
          <p:nvPr>
            <p:ph type="ctrTitle"/>
          </p:nvPr>
        </p:nvSpPr>
        <p:spPr>
          <a:xfrm>
            <a:off x="311216" y="1251446"/>
            <a:ext cx="6035398" cy="2024438"/>
          </a:xfrm>
          <a:prstGeom prst="rect">
            <a:avLst/>
          </a:prstGeom>
          <a:noFill/>
          <a:ln>
            <a:noFill/>
          </a:ln>
        </p:spPr>
        <p:txBody>
          <a:bodyPr spcFirstLastPara="1" wrap="square" lIns="0" tIns="0" rIns="0" bIns="0" anchor="ctr" anchorCtr="0">
            <a:noAutofit/>
          </a:bodyPr>
          <a:lstStyle/>
          <a:p>
            <a:pPr marL="0" indent="0"/>
            <a:r>
              <a:rPr lang="en-US" sz="1800" dirty="0">
                <a:solidFill>
                  <a:srgbClr val="FFFFFF"/>
                </a:solidFill>
                <a:latin typeface="Georgia" pitchFamily="34" charset="0"/>
                <a:ea typeface="Georgia" pitchFamily="34" charset="-122"/>
                <a:cs typeface="Georgia" pitchFamily="34" charset="-120"/>
              </a:rPr>
              <a:t>Beyond Tools and Resources: </a:t>
            </a:r>
            <a:br>
              <a:rPr lang="en-US" sz="1800" dirty="0">
                <a:solidFill>
                  <a:srgbClr val="FFFFFF"/>
                </a:solidFill>
                <a:latin typeface="Georgia" pitchFamily="34" charset="0"/>
                <a:ea typeface="Georgia" pitchFamily="34" charset="-122"/>
                <a:cs typeface="Georgia" pitchFamily="34" charset="-120"/>
              </a:rPr>
            </a:br>
            <a:r>
              <a:rPr lang="en-US" sz="1800" dirty="0">
                <a:solidFill>
                  <a:srgbClr val="C8D0E8"/>
                </a:solidFill>
              </a:rPr>
              <a:t>A Deep Dive into MCP Sampling</a:t>
            </a:r>
            <a:br>
              <a:rPr lang="en-US" sz="1800" dirty="0"/>
            </a:br>
            <a:r>
              <a:rPr lang="en-US" sz="1800" dirty="0">
                <a:solidFill>
                  <a:srgbClr val="C8D0E8"/>
                </a:solidFill>
              </a:rPr>
              <a:t>for Agentic Features</a:t>
            </a:r>
            <a:br>
              <a:rPr lang="en-US" sz="1800" dirty="0"/>
            </a:br>
            <a:endParaRPr sz="1800" dirty="0"/>
          </a:p>
        </p:txBody>
      </p:sp>
      <p:sp>
        <p:nvSpPr>
          <p:cNvPr id="57" name="Google Shape;57;p1"/>
          <p:cNvSpPr txBox="1">
            <a:spLocks noGrp="1"/>
          </p:cNvSpPr>
          <p:nvPr>
            <p:ph type="subTitle" idx="1"/>
          </p:nvPr>
        </p:nvSpPr>
        <p:spPr>
          <a:xfrm>
            <a:off x="961698" y="4311778"/>
            <a:ext cx="2634942" cy="609254"/>
          </a:xfrm>
          <a:prstGeom prst="rect">
            <a:avLst/>
          </a:prstGeom>
          <a:noFill/>
          <a:ln>
            <a:noFill/>
          </a:ln>
        </p:spPr>
        <p:txBody>
          <a:bodyPr spcFirstLastPara="1" wrap="square" lIns="0" tIns="0" rIns="0" bIns="0" anchor="ctr" anchorCtr="0">
            <a:noAutofit/>
          </a:bodyPr>
          <a:lstStyle/>
          <a:p>
            <a:pPr marL="0" indent="0"/>
            <a:r>
              <a:rPr lang="en-US" sz="1200" b="1" dirty="0">
                <a:solidFill>
                  <a:schemeClr val="tx2">
                    <a:lumMod val="90000"/>
                  </a:schemeClr>
                </a:solidFill>
              </a:rPr>
              <a:t>Kevin Rohan Vaz</a:t>
            </a:r>
            <a:endParaRPr lang="en-US" sz="1200" dirty="0">
              <a:solidFill>
                <a:schemeClr val="tx2">
                  <a:lumMod val="90000"/>
                </a:schemeClr>
              </a:solidFill>
            </a:endParaRPr>
          </a:p>
          <a:p>
            <a:pPr marL="0" lvl="0" indent="0" algn="l" rtl="0">
              <a:lnSpc>
                <a:spcPct val="100000"/>
              </a:lnSpc>
              <a:spcBef>
                <a:spcPts val="0"/>
              </a:spcBef>
              <a:spcAft>
                <a:spcPts val="0"/>
              </a:spcAft>
              <a:buClr>
                <a:schemeClr val="lt1"/>
              </a:buClr>
              <a:buSzPts val="2800"/>
              <a:buNone/>
            </a:pPr>
            <a:r>
              <a:rPr lang="en-US" sz="1100" i="1" dirty="0">
                <a:solidFill>
                  <a:schemeClr val="tx2">
                    <a:lumMod val="90000"/>
                  </a:schemeClr>
                </a:solidFill>
              </a:rPr>
              <a:t>Senior Software Engineer @ SmartBear</a:t>
            </a:r>
            <a:endParaRPr sz="1100" i="1" dirty="0">
              <a:solidFill>
                <a:schemeClr val="tx2">
                  <a:lumMod val="90000"/>
                </a:schemeClr>
              </a:solidFill>
            </a:endParaRPr>
          </a:p>
        </p:txBody>
      </p:sp>
      <p:pic>
        <p:nvPicPr>
          <p:cNvPr id="3" name="Graphic 2">
            <a:extLst>
              <a:ext uri="{FF2B5EF4-FFF2-40B4-BE49-F238E27FC236}">
                <a16:creationId xmlns:a16="http://schemas.microsoft.com/office/drawing/2014/main" id="{9EB828E7-1DCC-18A7-0E3D-77AA3A6572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5" y="4311422"/>
            <a:ext cx="490702" cy="490702"/>
          </a:xfrm>
          <a:prstGeom prst="rect">
            <a:avLst/>
          </a:prstGeom>
        </p:spPr>
      </p:pic>
      <p:pic>
        <p:nvPicPr>
          <p:cNvPr id="5" name="Picture 4">
            <a:extLst>
              <a:ext uri="{FF2B5EF4-FFF2-40B4-BE49-F238E27FC236}">
                <a16:creationId xmlns:a16="http://schemas.microsoft.com/office/drawing/2014/main" id="{ECC8F6E0-7723-384B-C719-441CA2BFFD7C}"/>
              </a:ext>
            </a:extLst>
          </p:cNvPr>
          <p:cNvPicPr>
            <a:picLocks noChangeAspect="1"/>
          </p:cNvPicPr>
          <p:nvPr/>
        </p:nvPicPr>
        <p:blipFill>
          <a:blip r:embed="rId4"/>
          <a:stretch>
            <a:fillRect/>
          </a:stretch>
        </p:blipFill>
        <p:spPr>
          <a:xfrm>
            <a:off x="7148945" y="3237192"/>
            <a:ext cx="1683840" cy="1683840"/>
          </a:xfrm>
          <a:prstGeom prst="rect">
            <a:avLst/>
          </a:prstGeom>
        </p:spPr>
      </p:pic>
      <p:pic>
        <p:nvPicPr>
          <p:cNvPr id="7" name="Picture 6">
            <a:extLst>
              <a:ext uri="{FF2B5EF4-FFF2-40B4-BE49-F238E27FC236}">
                <a16:creationId xmlns:a16="http://schemas.microsoft.com/office/drawing/2014/main" id="{B8C2A49B-C860-664C-C5C4-5C36947DAB21}"/>
              </a:ext>
            </a:extLst>
          </p:cNvPr>
          <p:cNvPicPr>
            <a:picLocks noChangeAspect="1"/>
          </p:cNvPicPr>
          <p:nvPr/>
        </p:nvPicPr>
        <p:blipFill rotWithShape="1">
          <a:blip r:embed="rId5"/>
          <a:srcRect l="4808" t="9152" r="4355"/>
          <a:stretch>
            <a:fillRect/>
          </a:stretch>
        </p:blipFill>
        <p:spPr>
          <a:xfrm>
            <a:off x="279373" y="2800802"/>
            <a:ext cx="1364650" cy="1364797"/>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11700" y="293041"/>
            <a:ext cx="8520600" cy="841800"/>
          </a:xfrm>
          <a:prstGeom prst="rect">
            <a:avLst/>
          </a:prstGeom>
          <a:noFill/>
          <a:ln>
            <a:noFill/>
          </a:ln>
        </p:spPr>
        <p:txBody>
          <a:bodyPr spcFirstLastPara="1" wrap="square" lIns="0" tIns="0" rIns="0" bIns="0" anchor="ctr" anchorCtr="0">
            <a:noAutofit/>
          </a:bodyPr>
          <a:lstStyle/>
          <a:p>
            <a:pPr lvl="0"/>
            <a:r>
              <a:rPr lang="en-US" sz="2400" dirty="0">
                <a:solidFill>
                  <a:srgbClr val="FFFFFF"/>
                </a:solidFill>
                <a:latin typeface="Georgia" pitchFamily="34" charset="0"/>
                <a:ea typeface="Georgia" pitchFamily="34" charset="-122"/>
                <a:cs typeface="Georgia" pitchFamily="34" charset="-120"/>
              </a:rPr>
              <a:t>AGENDA</a:t>
            </a:r>
            <a:endParaRPr sz="2400" dirty="0"/>
          </a:p>
        </p:txBody>
      </p:sp>
      <p:sp>
        <p:nvSpPr>
          <p:cNvPr id="4" name="TextBox 3">
            <a:extLst>
              <a:ext uri="{FF2B5EF4-FFF2-40B4-BE49-F238E27FC236}">
                <a16:creationId xmlns:a16="http://schemas.microsoft.com/office/drawing/2014/main" id="{5B4F53CC-A380-1FA4-05E7-8BBDE8094821}"/>
              </a:ext>
            </a:extLst>
          </p:cNvPr>
          <p:cNvSpPr txBox="1"/>
          <p:nvPr/>
        </p:nvSpPr>
        <p:spPr>
          <a:xfrm>
            <a:off x="134393" y="1221056"/>
            <a:ext cx="5474576" cy="3139321"/>
          </a:xfrm>
          <a:prstGeom prst="rect">
            <a:avLst/>
          </a:prstGeom>
          <a:noFill/>
        </p:spPr>
        <p:txBody>
          <a:bodyPr wrap="none" rtlCol="0">
            <a:spAutoFit/>
          </a:bodyPr>
          <a:lstStyle/>
          <a:p>
            <a:pPr marL="285750" indent="-285750">
              <a:lnSpc>
                <a:spcPct val="150000"/>
              </a:lnSpc>
              <a:buClr>
                <a:schemeClr val="bg1"/>
              </a:buClr>
              <a:buFont typeface="Arial" panose="020B0604020202020204" pitchFamily="34" charset="0"/>
              <a:buChar char="•"/>
            </a:pPr>
            <a:r>
              <a:rPr lang="en-IN" sz="1800" dirty="0">
                <a:solidFill>
                  <a:schemeClr val="tx2">
                    <a:lumMod val="90000"/>
                  </a:schemeClr>
                </a:solidFill>
                <a:latin typeface="+mn-lt"/>
              </a:rPr>
              <a:t>Problem Statement</a:t>
            </a:r>
          </a:p>
          <a:p>
            <a:pPr marL="285750" indent="-285750">
              <a:lnSpc>
                <a:spcPct val="150000"/>
              </a:lnSpc>
              <a:buClr>
                <a:schemeClr val="bg1"/>
              </a:buClr>
              <a:buFont typeface="Arial" panose="020B0604020202020204" pitchFamily="34" charset="0"/>
              <a:buChar char="•"/>
            </a:pPr>
            <a:r>
              <a:rPr lang="en-IN" sz="1800" dirty="0">
                <a:solidFill>
                  <a:schemeClr val="tx2">
                    <a:lumMod val="90000"/>
                  </a:schemeClr>
                </a:solidFill>
                <a:latin typeface="+mn-lt"/>
              </a:rPr>
              <a:t>Introduction to Sampling</a:t>
            </a:r>
          </a:p>
          <a:p>
            <a:pPr marL="285750" indent="-285750">
              <a:lnSpc>
                <a:spcPct val="150000"/>
              </a:lnSpc>
              <a:buClr>
                <a:schemeClr val="bg1"/>
              </a:buClr>
              <a:buFont typeface="Arial" panose="020B0604020202020204" pitchFamily="34" charset="0"/>
              <a:buChar char="•"/>
            </a:pPr>
            <a:r>
              <a:rPr lang="en-US" sz="1800" dirty="0">
                <a:solidFill>
                  <a:schemeClr val="tx2">
                    <a:lumMod val="90000"/>
                  </a:schemeClr>
                </a:solidFill>
                <a:latin typeface="+mn-lt"/>
              </a:rPr>
              <a:t>Walkthrough of Sampling Capabilities &amp; Internals</a:t>
            </a:r>
          </a:p>
          <a:p>
            <a:pPr marL="285750" indent="-285750">
              <a:lnSpc>
                <a:spcPct val="150000"/>
              </a:lnSpc>
              <a:buClr>
                <a:schemeClr val="bg1"/>
              </a:buClr>
              <a:buFont typeface="Arial" panose="020B0604020202020204" pitchFamily="34" charset="0"/>
              <a:buChar char="•"/>
            </a:pPr>
            <a:r>
              <a:rPr lang="en-US" sz="1800" dirty="0">
                <a:solidFill>
                  <a:schemeClr val="tx2">
                    <a:lumMod val="90000"/>
                  </a:schemeClr>
                </a:solidFill>
                <a:latin typeface="+mn-lt"/>
              </a:rPr>
              <a:t>Sampling Patterns Demo</a:t>
            </a:r>
          </a:p>
          <a:p>
            <a:pPr marL="285750" indent="-285750">
              <a:lnSpc>
                <a:spcPct val="150000"/>
              </a:lnSpc>
              <a:buClr>
                <a:schemeClr val="bg1"/>
              </a:buClr>
              <a:buFont typeface="Arial" panose="020B0604020202020204" pitchFamily="34" charset="0"/>
              <a:buChar char="•"/>
            </a:pPr>
            <a:r>
              <a:rPr lang="en-US" sz="1800" dirty="0">
                <a:solidFill>
                  <a:schemeClr val="tx2">
                    <a:lumMod val="90000"/>
                  </a:schemeClr>
                </a:solidFill>
                <a:latin typeface="+mn-lt"/>
              </a:rPr>
              <a:t>Challenges in adopting Sampling</a:t>
            </a:r>
          </a:p>
          <a:p>
            <a:pPr marL="285750" indent="-285750">
              <a:lnSpc>
                <a:spcPct val="150000"/>
              </a:lnSpc>
              <a:buClr>
                <a:schemeClr val="bg1"/>
              </a:buClr>
              <a:buFont typeface="Arial" panose="020B0604020202020204" pitchFamily="34" charset="0"/>
              <a:buChar char="•"/>
            </a:pPr>
            <a:r>
              <a:rPr lang="en-US" sz="1800" dirty="0">
                <a:solidFill>
                  <a:schemeClr val="tx2">
                    <a:lumMod val="90000"/>
                  </a:schemeClr>
                </a:solidFill>
                <a:latin typeface="+mn-lt"/>
              </a:rPr>
              <a:t>Q&amp;A</a:t>
            </a:r>
          </a:p>
          <a:p>
            <a:pPr marL="285750" indent="-285750">
              <a:buClr>
                <a:schemeClr val="bg1"/>
              </a:buClr>
              <a:buFont typeface="Arial" panose="020B0604020202020204" pitchFamily="34" charset="0"/>
              <a:buChar char="•"/>
            </a:pPr>
            <a:endParaRPr lang="en-US" sz="1100" dirty="0">
              <a:solidFill>
                <a:schemeClr val="bg1"/>
              </a:solidFill>
            </a:endParaRPr>
          </a:p>
          <a:p>
            <a:pPr marL="285750" indent="-285750">
              <a:buClr>
                <a:schemeClr val="bg1"/>
              </a:buClr>
              <a:buFont typeface="Arial" panose="020B0604020202020204" pitchFamily="34" charset="0"/>
              <a:buChar char="•"/>
            </a:pPr>
            <a:endParaRPr lang="en-US" sz="1100" dirty="0">
              <a:solidFill>
                <a:schemeClr val="bg1"/>
              </a:solidFill>
            </a:endParaRPr>
          </a:p>
          <a:p>
            <a:pPr marL="285750" indent="-285750">
              <a:buClr>
                <a:schemeClr val="bg1"/>
              </a:buClr>
              <a:buFont typeface="Arial" panose="020B0604020202020204" pitchFamily="34" charset="0"/>
              <a:buChar char="•"/>
            </a:pPr>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Problem Statement</a:t>
            </a:r>
            <a:endParaRPr dirty="0"/>
          </a:p>
        </p:txBody>
      </p:sp>
      <p:sp>
        <p:nvSpPr>
          <p:cNvPr id="13" name="TextBox 12">
            <a:extLst>
              <a:ext uri="{FF2B5EF4-FFF2-40B4-BE49-F238E27FC236}">
                <a16:creationId xmlns:a16="http://schemas.microsoft.com/office/drawing/2014/main" id="{6842DDF4-F981-6AEA-6298-2CEBA15914AC}"/>
              </a:ext>
            </a:extLst>
          </p:cNvPr>
          <p:cNvSpPr txBox="1"/>
          <p:nvPr/>
        </p:nvSpPr>
        <p:spPr>
          <a:xfrm>
            <a:off x="281353" y="3133442"/>
            <a:ext cx="4541654" cy="523220"/>
          </a:xfrm>
          <a:prstGeom prst="rect">
            <a:avLst/>
          </a:prstGeom>
          <a:noFill/>
        </p:spPr>
        <p:txBody>
          <a:bodyPr wrap="square">
            <a:spAutoFit/>
          </a:bodyPr>
          <a:lstStyle/>
          <a:p>
            <a:r>
              <a:rPr lang="en-IN" i="1" dirty="0"/>
              <a:t>"Every MCP server that needs AI has to solve the same problem - where does the LLM come from?"</a:t>
            </a:r>
            <a:endParaRPr lang="en-US" i="1" dirty="0"/>
          </a:p>
        </p:txBody>
      </p:sp>
      <p:sp>
        <p:nvSpPr>
          <p:cNvPr id="15" name="TextBox 14">
            <a:extLst>
              <a:ext uri="{FF2B5EF4-FFF2-40B4-BE49-F238E27FC236}">
                <a16:creationId xmlns:a16="http://schemas.microsoft.com/office/drawing/2014/main" id="{CFE582F5-9598-56FF-F90E-1E916353A79E}"/>
              </a:ext>
            </a:extLst>
          </p:cNvPr>
          <p:cNvSpPr txBox="1"/>
          <p:nvPr/>
        </p:nvSpPr>
        <p:spPr>
          <a:xfrm>
            <a:off x="281353" y="3803390"/>
            <a:ext cx="4541654" cy="523220"/>
          </a:xfrm>
          <a:prstGeom prst="rect">
            <a:avLst/>
          </a:prstGeom>
          <a:noFill/>
        </p:spPr>
        <p:txBody>
          <a:bodyPr wrap="square">
            <a:spAutoFit/>
          </a:bodyPr>
          <a:lstStyle/>
          <a:p>
            <a:r>
              <a:rPr lang="en-IN" i="1" dirty="0"/>
              <a:t>“Sampling solves this by letting the server borrow the client's LLM — with the user always in control.”</a:t>
            </a:r>
            <a:endParaRPr lang="en-US" i="1" dirty="0"/>
          </a:p>
        </p:txBody>
      </p:sp>
      <p:sp>
        <p:nvSpPr>
          <p:cNvPr id="17" name="TextBox 16">
            <a:extLst>
              <a:ext uri="{FF2B5EF4-FFF2-40B4-BE49-F238E27FC236}">
                <a16:creationId xmlns:a16="http://schemas.microsoft.com/office/drawing/2014/main" id="{7930783F-8E94-805F-EE03-80C67037DA90}"/>
              </a:ext>
            </a:extLst>
          </p:cNvPr>
          <p:cNvSpPr txBox="1"/>
          <p:nvPr/>
        </p:nvSpPr>
        <p:spPr>
          <a:xfrm>
            <a:off x="311699" y="1386277"/>
            <a:ext cx="4410569" cy="1600438"/>
          </a:xfrm>
          <a:prstGeom prst="rect">
            <a:avLst/>
          </a:prstGeom>
          <a:noFill/>
        </p:spPr>
        <p:txBody>
          <a:bodyPr wrap="square">
            <a:spAutoFit/>
          </a:bodyPr>
          <a:lstStyle/>
          <a:p>
            <a:pPr marL="514350" indent="-285750">
              <a:buFont typeface="Arial" panose="020B0604020202020204" pitchFamily="34" charset="0"/>
              <a:buChar char="•"/>
            </a:pPr>
            <a:r>
              <a:rPr lang="en-IN" b="1" dirty="0"/>
              <a:t>API key sprawl</a:t>
            </a:r>
            <a:r>
              <a:rPr lang="en-IN" dirty="0"/>
              <a:t> Every server needs its own LLM credentials, billing, and rate limit management - multiplied across every tool you build.</a:t>
            </a:r>
          </a:p>
          <a:p>
            <a:pPr marL="514350" indent="-285750">
              <a:buFont typeface="Arial" panose="020B0604020202020204" pitchFamily="34" charset="0"/>
              <a:buChar char="•"/>
            </a:pPr>
            <a:r>
              <a:rPr lang="en-IN" b="1" dirty="0"/>
              <a:t>No user control</a:t>
            </a:r>
            <a:r>
              <a:rPr lang="en-IN" dirty="0"/>
              <a:t> LLM calls happen silently inside the server. Users can't see, edit, or reject what gets sent to the model.</a:t>
            </a:r>
          </a:p>
        </p:txBody>
      </p:sp>
      <p:sp>
        <p:nvSpPr>
          <p:cNvPr id="18" name="TextBox 17">
            <a:extLst>
              <a:ext uri="{FF2B5EF4-FFF2-40B4-BE49-F238E27FC236}">
                <a16:creationId xmlns:a16="http://schemas.microsoft.com/office/drawing/2014/main" id="{24EEFB6B-ADFF-CB2C-556E-88C5D63A2092}"/>
              </a:ext>
            </a:extLst>
          </p:cNvPr>
          <p:cNvSpPr txBox="1"/>
          <p:nvPr/>
        </p:nvSpPr>
        <p:spPr>
          <a:xfrm>
            <a:off x="281353" y="1078500"/>
            <a:ext cx="3363421" cy="307777"/>
          </a:xfrm>
          <a:prstGeom prst="rect">
            <a:avLst/>
          </a:prstGeom>
          <a:noFill/>
        </p:spPr>
        <p:txBody>
          <a:bodyPr wrap="none" rtlCol="0">
            <a:spAutoFit/>
          </a:bodyPr>
          <a:lstStyle/>
          <a:p>
            <a:r>
              <a:rPr lang="en-US" i="1" dirty="0"/>
              <a:t>“Trying to build AI powered MCP tools?”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dissolv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dissolv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dissolve">
                                      <p:cBhvr>
                                        <p:cTn id="17" dur="500"/>
                                        <p:tgtEl>
                                          <p:spTgt spid="1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dissolve">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animEffect transition="in" filter="dissolve">
                                      <p:cBhvr>
                                        <p:cTn id="2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3BE062BA-2CE9-93FE-1DC5-C1D0A5947F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397EF6-E560-79A3-5647-DA05C49F0FF3}"/>
              </a:ext>
            </a:extLst>
          </p:cNvPr>
          <p:cNvSpPr/>
          <p:nvPr/>
        </p:nvSpPr>
        <p:spPr>
          <a:xfrm>
            <a:off x="5315063" y="1342825"/>
            <a:ext cx="3394116" cy="2934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Google Shape;67;p3">
            <a:extLst>
              <a:ext uri="{FF2B5EF4-FFF2-40B4-BE49-F238E27FC236}">
                <a16:creationId xmlns:a16="http://schemas.microsoft.com/office/drawing/2014/main" id="{A5AA7B17-FB0A-CBA8-8D32-E5DFB956834D}"/>
              </a:ext>
            </a:extLst>
          </p:cNvPr>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Introduction to Sampling</a:t>
            </a:r>
            <a:endParaRPr dirty="0"/>
          </a:p>
        </p:txBody>
      </p:sp>
      <p:sp>
        <p:nvSpPr>
          <p:cNvPr id="68" name="Google Shape;68;p3">
            <a:extLst>
              <a:ext uri="{FF2B5EF4-FFF2-40B4-BE49-F238E27FC236}">
                <a16:creationId xmlns:a16="http://schemas.microsoft.com/office/drawing/2014/main" id="{13EE7FE7-37F5-08F8-5109-8D5C053865B8}"/>
              </a:ext>
            </a:extLst>
          </p:cNvPr>
          <p:cNvSpPr txBox="1">
            <a:spLocks noGrp="1"/>
          </p:cNvSpPr>
          <p:nvPr>
            <p:ph type="body" idx="1"/>
          </p:nvPr>
        </p:nvSpPr>
        <p:spPr>
          <a:xfrm>
            <a:off x="83127" y="1152475"/>
            <a:ext cx="4770227" cy="3317400"/>
          </a:xfrm>
          <a:prstGeom prst="rect">
            <a:avLst/>
          </a:prstGeom>
          <a:noFill/>
          <a:ln>
            <a:noFill/>
          </a:ln>
        </p:spPr>
        <p:txBody>
          <a:bodyPr spcFirstLastPara="1" wrap="square" lIns="0" tIns="0" rIns="0" bIns="0" anchor="t" anchorCtr="0">
            <a:noAutofit/>
          </a:bodyPr>
          <a:lstStyle/>
          <a:p>
            <a:pPr marL="514350" indent="-285750"/>
            <a:r>
              <a:rPr lang="en-US" dirty="0">
                <a:latin typeface="+mn-lt"/>
              </a:rPr>
              <a:t>Client-side LLM access via MCP</a:t>
            </a:r>
          </a:p>
          <a:p>
            <a:pPr marL="514350" indent="-285750"/>
            <a:r>
              <a:rPr lang="en-US" dirty="0">
                <a:latin typeface="+mn-lt"/>
              </a:rPr>
              <a:t>No LLM needed on the server - Build AI features without server-side models.</a:t>
            </a:r>
          </a:p>
          <a:p>
            <a:pPr marL="514350" indent="-285750"/>
            <a:r>
              <a:rPr lang="en-IN" dirty="0">
                <a:latin typeface="+mn-lt"/>
              </a:rPr>
              <a:t>Server-initiated requests - Server asks the client to call the LLM.</a:t>
            </a:r>
          </a:p>
          <a:p>
            <a:pPr marL="514350" indent="-285750"/>
            <a:r>
              <a:rPr lang="en-IN" dirty="0">
                <a:latin typeface="+mn-lt"/>
              </a:rPr>
              <a:t>Multimodal input support - Works with text, images, and audio.</a:t>
            </a:r>
            <a:endParaRPr dirty="0">
              <a:latin typeface="+mn-lt"/>
            </a:endParaRPr>
          </a:p>
        </p:txBody>
      </p:sp>
      <p:pic>
        <p:nvPicPr>
          <p:cNvPr id="3" name="Graphic 2">
            <a:extLst>
              <a:ext uri="{FF2B5EF4-FFF2-40B4-BE49-F238E27FC236}">
                <a16:creationId xmlns:a16="http://schemas.microsoft.com/office/drawing/2014/main" id="{4CE3DE64-36CA-6715-DB59-15199E37C5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8256" y="1407425"/>
            <a:ext cx="3507731" cy="2869962"/>
          </a:xfrm>
          <a:prstGeom prst="rect">
            <a:avLst/>
          </a:prstGeom>
        </p:spPr>
      </p:pic>
    </p:spTree>
    <p:extLst>
      <p:ext uri="{BB962C8B-B14F-4D97-AF65-F5344CB8AC3E}">
        <p14:creationId xmlns:p14="http://schemas.microsoft.com/office/powerpoint/2010/main" val="355014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4"/>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Sampling Capabilities</a:t>
            </a:r>
            <a:endParaRPr dirty="0"/>
          </a:p>
        </p:txBody>
      </p:sp>
      <p:sp>
        <p:nvSpPr>
          <p:cNvPr id="74" name="Google Shape;74;p4"/>
          <p:cNvSpPr txBox="1">
            <a:spLocks noGrp="1"/>
          </p:cNvSpPr>
          <p:nvPr>
            <p:ph type="body" idx="1"/>
          </p:nvPr>
        </p:nvSpPr>
        <p:spPr>
          <a:xfrm>
            <a:off x="70338" y="1101319"/>
            <a:ext cx="8628162" cy="1520387"/>
          </a:xfrm>
          <a:prstGeom prst="rect">
            <a:avLst/>
          </a:prstGeom>
          <a:noFill/>
          <a:ln>
            <a:noFill/>
          </a:ln>
        </p:spPr>
        <p:txBody>
          <a:bodyPr spcFirstLastPara="1" wrap="square" lIns="0" tIns="0" rIns="0" bIns="0" anchor="t" anchorCtr="0">
            <a:noAutofit/>
          </a:bodyPr>
          <a:lstStyle/>
          <a:p>
            <a:pPr marL="571500" indent="-342900"/>
            <a:r>
              <a:rPr lang="en-US" b="1" dirty="0">
                <a:latin typeface="+mn-lt"/>
              </a:rPr>
              <a:t>Capability priorities</a:t>
            </a:r>
          </a:p>
          <a:p>
            <a:pPr marL="1028700" lvl="1" indent="-342900">
              <a:buSzPts val="1400"/>
            </a:pPr>
            <a:r>
              <a:rPr lang="en-US" sz="1400" b="1" dirty="0">
                <a:latin typeface="+mn-lt"/>
              </a:rPr>
              <a:t>Cost</a:t>
            </a:r>
            <a:r>
              <a:rPr lang="en-US" sz="1400" dirty="0">
                <a:latin typeface="+mn-lt"/>
              </a:rPr>
              <a:t> - </a:t>
            </a:r>
            <a:r>
              <a:rPr lang="en-IN" sz="1400" dirty="0">
                <a:latin typeface="+mn-lt"/>
              </a:rPr>
              <a:t>How important is minimizing costs?</a:t>
            </a:r>
          </a:p>
          <a:p>
            <a:pPr marL="1028700" lvl="1" indent="-342900">
              <a:buSzPts val="1400"/>
            </a:pPr>
            <a:r>
              <a:rPr lang="en-IN" sz="1400" b="1" dirty="0">
                <a:latin typeface="+mn-lt"/>
              </a:rPr>
              <a:t>Speed</a:t>
            </a:r>
            <a:r>
              <a:rPr lang="en-IN" sz="1400" dirty="0">
                <a:latin typeface="+mn-lt"/>
              </a:rPr>
              <a:t> - How important is low latency?</a:t>
            </a:r>
          </a:p>
          <a:p>
            <a:pPr marL="1028700" lvl="1" indent="-342900">
              <a:buSzPts val="1400"/>
            </a:pPr>
            <a:r>
              <a:rPr lang="en-IN" sz="1400" b="1" dirty="0">
                <a:latin typeface="+mn-lt"/>
              </a:rPr>
              <a:t>Intelligence</a:t>
            </a:r>
            <a:r>
              <a:rPr lang="en-IN" sz="1400" dirty="0">
                <a:latin typeface="+mn-lt"/>
              </a:rPr>
              <a:t> - How important are advanced capabilities?</a:t>
            </a:r>
            <a:endParaRPr lang="en-US" sz="1400" dirty="0">
              <a:latin typeface="+mn-lt"/>
            </a:endParaRPr>
          </a:p>
          <a:p>
            <a:pPr marL="571500" indent="-342900"/>
            <a:r>
              <a:rPr lang="en-US" b="1" dirty="0">
                <a:latin typeface="+mn-lt"/>
              </a:rPr>
              <a:t>Model Selection </a:t>
            </a:r>
            <a:r>
              <a:rPr lang="en-US" dirty="0">
                <a:latin typeface="+mn-lt"/>
              </a:rPr>
              <a:t>– specify preferred models for the feature</a:t>
            </a:r>
          </a:p>
          <a:p>
            <a:pPr marL="571500" indent="-342900"/>
            <a:r>
              <a:rPr lang="en-US" b="1" dirty="0">
                <a:latin typeface="+mn-lt"/>
              </a:rPr>
              <a:t>Model Inference parameters </a:t>
            </a:r>
            <a:r>
              <a:rPr lang="en-US" dirty="0">
                <a:latin typeface="+mn-lt"/>
              </a:rPr>
              <a:t>– temperature &amp; max tokens</a:t>
            </a:r>
          </a:p>
          <a:p>
            <a:pPr marL="571500" indent="-342900"/>
            <a:r>
              <a:rPr lang="en-US" b="1" dirty="0">
                <a:latin typeface="+mn-lt"/>
              </a:rPr>
              <a:t>Tool Use for building agents &amp; parallel tool execution</a:t>
            </a:r>
          </a:p>
          <a:p>
            <a:pPr marL="571500" indent="-342900"/>
            <a:endParaRPr lang="en-US" sz="1100" dirty="0"/>
          </a:p>
          <a:p>
            <a:pPr marL="571500" indent="-342900"/>
            <a:endParaRPr lang="en-US" sz="1100" dirty="0"/>
          </a:p>
          <a:p>
            <a:pPr marL="228600" indent="0">
              <a:buNone/>
            </a:pPr>
            <a:endParaRPr lang="en-US" sz="1100" dirty="0"/>
          </a:p>
        </p:txBody>
      </p:sp>
      <p:sp>
        <p:nvSpPr>
          <p:cNvPr id="3" name="Rectangle 2">
            <a:extLst>
              <a:ext uri="{FF2B5EF4-FFF2-40B4-BE49-F238E27FC236}">
                <a16:creationId xmlns:a16="http://schemas.microsoft.com/office/drawing/2014/main" id="{ABF851E7-3A10-6744-119D-4E224C9B5E5B}"/>
              </a:ext>
            </a:extLst>
          </p:cNvPr>
          <p:cNvSpPr/>
          <p:nvPr/>
        </p:nvSpPr>
        <p:spPr>
          <a:xfrm>
            <a:off x="2065393" y="2912726"/>
            <a:ext cx="5013214" cy="208130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marL="685800" marR="0" lvl="1" indent="0" algn="l" defTabSz="914400" rtl="0" eaLnBrk="1" fontAlgn="auto" latinLnBrk="0" hangingPunct="1">
              <a:lnSpc>
                <a:spcPct val="115000"/>
              </a:lnSpc>
              <a:spcBef>
                <a:spcPts val="0"/>
              </a:spcBef>
              <a:spcAft>
                <a:spcPts val="0"/>
              </a:spcAft>
              <a:buClr>
                <a:srgbClr val="000000"/>
              </a:buClr>
              <a:buSzPts val="1400"/>
              <a:buFont typeface="Arial"/>
              <a:buNone/>
              <a:tabLst/>
              <a:defRPr/>
            </a:pPr>
            <a:endParaRPr kumimoji="0" lang="en-IN" sz="1000" b="0" i="0" u="none" strike="noStrike" kern="0" cap="none" spc="0" normalizeH="0" baseline="0" noProof="0" dirty="0">
              <a:ln>
                <a:noFill/>
              </a:ln>
              <a:solidFill>
                <a:schemeClr val="bg1"/>
              </a:solidFill>
              <a:effectLst/>
              <a:uLnTx/>
              <a:uFillTx/>
              <a:latin typeface="JetBrains Mono"/>
              <a:cs typeface="Arial"/>
              <a:sym typeface="Arial"/>
            </a:endParaRP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"hints"</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 </a:t>
            </a:r>
          </a:p>
          <a:p>
            <a:pPr marL="685800" lvl="2">
              <a:lnSpc>
                <a:spcPct val="115000"/>
              </a:lnSpc>
              <a:buSzPts val="1400"/>
              <a:defRPr/>
            </a:pPr>
            <a:r>
              <a:rPr lang="en-IN" sz="1000" dirty="0">
                <a:solidFill>
                  <a:srgbClr val="D4D4D4"/>
                </a:solidFill>
                <a:latin typeface="Comic Sans MS" panose="030F0902030302020204" pitchFamily="66" charset="0"/>
                <a:cs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"name"</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0A3069"/>
                </a:solidFill>
                <a:effectLst/>
                <a:uLnTx/>
                <a:uFillTx/>
                <a:latin typeface="Comic Sans MS" panose="030F0902030302020204" pitchFamily="66" charset="0"/>
                <a:cs typeface="Arial"/>
                <a:sym typeface="Arial"/>
              </a:rPr>
              <a:t>"claude-3-sonnet"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6E7781"/>
                </a:solidFill>
                <a:effectLst/>
                <a:uLnTx/>
                <a:uFillTx/>
                <a:latin typeface="Comic Sans MS" panose="030F0902030302020204" pitchFamily="66" charset="0"/>
                <a:cs typeface="Arial"/>
                <a:sym typeface="Arial"/>
              </a:rPr>
              <a:t>// Prefer Sonnet-class models</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lvl="2">
              <a:lnSpc>
                <a:spcPct val="115000"/>
              </a:lnSpc>
              <a:buSzPts val="1400"/>
              <a:defRPr/>
            </a:pPr>
            <a:r>
              <a:rPr lang="en-IN" sz="1000" dirty="0">
                <a:solidFill>
                  <a:srgbClr val="D4D4D4"/>
                </a:solidFill>
                <a:latin typeface="Comic Sans MS" panose="030F0902030302020204" pitchFamily="66" charset="0"/>
                <a:cs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"name"</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0A3069"/>
                </a:solidFill>
                <a:effectLst/>
                <a:uLnTx/>
                <a:uFillTx/>
                <a:latin typeface="Comic Sans MS" panose="030F0902030302020204" pitchFamily="66" charset="0"/>
                <a:cs typeface="Arial"/>
                <a:sym typeface="Arial"/>
              </a:rPr>
              <a:t>"claude"</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6E7781"/>
                </a:solidFill>
                <a:effectLst/>
                <a:uLnTx/>
                <a:uFillTx/>
                <a:latin typeface="Comic Sans MS" panose="030F0902030302020204" pitchFamily="66" charset="0"/>
                <a:cs typeface="Arial"/>
                <a:sym typeface="Arial"/>
              </a:rPr>
              <a:t>// Fall back to any Claude model</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lang="en-IN" sz="1000" dirty="0">
                <a:solidFill>
                  <a:srgbClr val="D4D4D4"/>
                </a:solidFill>
                <a:latin typeface="Comic Sans MS" panose="030F0902030302020204" pitchFamily="66" charset="0"/>
                <a:cs typeface="Arial"/>
              </a:rPr>
              <a:t>    </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lang="en-IN" sz="1000" dirty="0">
                <a:solidFill>
                  <a:srgbClr val="1F2328"/>
                </a:solidFill>
                <a:latin typeface="Comic Sans MS" panose="030F0902030302020204" pitchFamily="66" charset="0"/>
                <a:cs typeface="Arial"/>
              </a:rPr>
              <a:t>   </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"costPriority"</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0550AE"/>
                </a:solidFill>
                <a:effectLst/>
                <a:uLnTx/>
                <a:uFillTx/>
                <a:latin typeface="Comic Sans MS" panose="030F0902030302020204" pitchFamily="66" charset="0"/>
                <a:cs typeface="Arial"/>
                <a:sym typeface="Arial"/>
              </a:rPr>
              <a:t>0.3</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6E7781"/>
                </a:solidFill>
                <a:effectLst/>
                <a:uLnTx/>
                <a:uFillTx/>
                <a:latin typeface="Comic Sans MS" panose="030F0902030302020204" pitchFamily="66" charset="0"/>
                <a:cs typeface="Arial"/>
                <a:sym typeface="Arial"/>
              </a:rPr>
              <a:t>// Cost is less important</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lang="en-IN" sz="1000" dirty="0">
                <a:solidFill>
                  <a:srgbClr val="D4D4D4"/>
                </a:solidFill>
                <a:latin typeface="Comic Sans MS" panose="030F0902030302020204" pitchFamily="66" charset="0"/>
                <a:cs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"speedPriority"</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0550AE"/>
                </a:solidFill>
                <a:effectLst/>
                <a:uLnTx/>
                <a:uFillTx/>
                <a:latin typeface="Comic Sans MS" panose="030F0902030302020204" pitchFamily="66" charset="0"/>
                <a:cs typeface="Arial"/>
                <a:sym typeface="Arial"/>
              </a:rPr>
              <a:t>0.8</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6E7781"/>
                </a:solidFill>
                <a:effectLst/>
                <a:uLnTx/>
                <a:uFillTx/>
                <a:latin typeface="Comic Sans MS" panose="030F0902030302020204" pitchFamily="66" charset="0"/>
                <a:cs typeface="Arial"/>
                <a:sym typeface="Arial"/>
              </a:rPr>
              <a:t>// Speed is very important</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lang="en-IN" sz="1000" dirty="0">
                <a:solidFill>
                  <a:srgbClr val="D4D4D4"/>
                </a:solidFill>
                <a:latin typeface="Comic Sans MS" panose="030F0902030302020204" pitchFamily="66" charset="0"/>
                <a:cs typeface="Arial"/>
              </a:rPr>
              <a:t>    </a:t>
            </a:r>
            <a:r>
              <a:rPr kumimoji="0" lang="en-IN" sz="1000" u="none" strike="noStrike" kern="0" cap="none" spc="0" normalizeH="0" baseline="0" noProof="0" dirty="0">
                <a:ln>
                  <a:noFill/>
                </a:ln>
                <a:solidFill>
                  <a:srgbClr val="116329"/>
                </a:solidFill>
                <a:effectLst/>
                <a:uLnTx/>
                <a:uFillTx/>
                <a:latin typeface="Comic Sans MS" panose="030F0902030302020204" pitchFamily="66" charset="0"/>
                <a:cs typeface="Arial"/>
                <a:sym typeface="Arial"/>
              </a:rPr>
              <a:t>"intelligencePriority"</a:t>
            </a: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r>
              <a:rPr kumimoji="0" lang="en-IN" sz="1000" u="none" strike="noStrike" kern="0" cap="none" spc="0" normalizeH="0" baseline="0" noProof="0" dirty="0">
                <a:ln>
                  <a:noFill/>
                </a:ln>
                <a:solidFill>
                  <a:srgbClr val="1F2328"/>
                </a:solidFill>
                <a:effectLst/>
                <a:uLnTx/>
                <a:uFillTx/>
                <a:latin typeface="Comic Sans MS" panose="030F0902030302020204" pitchFamily="66" charset="0"/>
                <a:cs typeface="Arial"/>
                <a:sym typeface="Arial"/>
              </a:rPr>
              <a:t> </a:t>
            </a:r>
            <a:r>
              <a:rPr kumimoji="0" lang="en-IN" sz="1000" u="none" strike="noStrike" kern="0" cap="none" spc="0" normalizeH="0" baseline="0" noProof="0" dirty="0">
                <a:ln>
                  <a:noFill/>
                </a:ln>
                <a:solidFill>
                  <a:srgbClr val="0550AE"/>
                </a:solidFill>
                <a:effectLst/>
                <a:uLnTx/>
                <a:uFillTx/>
                <a:latin typeface="Comic Sans MS" panose="030F0902030302020204" pitchFamily="66" charset="0"/>
                <a:cs typeface="Arial"/>
                <a:sym typeface="Arial"/>
              </a:rPr>
              <a:t>0.5            </a:t>
            </a:r>
            <a:r>
              <a:rPr kumimoji="0" lang="en-IN" sz="1000" u="none" strike="noStrike" kern="0" cap="none" spc="0" normalizeH="0" baseline="0" noProof="0" dirty="0">
                <a:ln>
                  <a:noFill/>
                </a:ln>
                <a:solidFill>
                  <a:srgbClr val="6E7781"/>
                </a:solidFill>
                <a:effectLst/>
                <a:uLnTx/>
                <a:uFillTx/>
                <a:latin typeface="Comic Sans MS" panose="030F0902030302020204" pitchFamily="66" charset="0"/>
                <a:cs typeface="Arial"/>
                <a:sym typeface="Arial"/>
              </a:rPr>
              <a:t> // Moderate capability needs</a:t>
            </a:r>
            <a:r>
              <a:rPr kumimoji="0" lang="en-IN" sz="1000" u="none" strike="noStrike" kern="0" cap="none" spc="0" normalizeH="0" baseline="0" noProof="0" dirty="0">
                <a:ln>
                  <a:noFill/>
                </a:ln>
                <a:solidFill>
                  <a:srgbClr val="D4D4D4"/>
                </a:solidFill>
                <a:effectLst/>
                <a:uLnTx/>
                <a:uFillTx/>
                <a:latin typeface="Comic Sans MS" panose="030F0902030302020204" pitchFamily="66" charset="0"/>
                <a:cs typeface="Arial"/>
                <a:sym typeface="Arial"/>
              </a:rPr>
              <a:t> </a:t>
            </a:r>
          </a:p>
          <a:p>
            <a:pPr marL="685800" marR="0" lvl="1" indent="0"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IN" sz="1000" u="none" strike="noStrike" kern="0" cap="none" spc="0" normalizeH="0" baseline="0" noProof="0" dirty="0">
                <a:ln>
                  <a:noFill/>
                </a:ln>
                <a:solidFill>
                  <a:schemeClr val="bg1"/>
                </a:solidFill>
                <a:effectLst/>
                <a:uLnTx/>
                <a:uFillTx/>
                <a:latin typeface="Comic Sans MS" panose="030F0902030302020204" pitchFamily="66" charset="0"/>
                <a:cs typeface="Arial"/>
                <a:sym typeface="Arial"/>
              </a:rPr>
              <a:t>}</a:t>
            </a:r>
          </a:p>
          <a:p>
            <a:pPr algn="ct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dissolve">
                                      <p:cBhvr>
                                        <p:cTn id="7" dur="500"/>
                                        <p:tgtEl>
                                          <p:spTgt spid="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4">
                                            <p:txEl>
                                              <p:pRg st="1" end="1"/>
                                            </p:txEl>
                                          </p:spTgt>
                                        </p:tgtEl>
                                        <p:attrNameLst>
                                          <p:attrName>style.visibility</p:attrName>
                                        </p:attrNameLst>
                                      </p:cBhvr>
                                      <p:to>
                                        <p:strVal val="visible"/>
                                      </p:to>
                                    </p:set>
                                    <p:animEffect transition="in" filter="dissolve">
                                      <p:cBhvr>
                                        <p:cTn id="12" dur="500"/>
                                        <p:tgtEl>
                                          <p:spTgt spid="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4">
                                            <p:txEl>
                                              <p:pRg st="2" end="2"/>
                                            </p:txEl>
                                          </p:spTgt>
                                        </p:tgtEl>
                                        <p:attrNameLst>
                                          <p:attrName>style.visibility</p:attrName>
                                        </p:attrNameLst>
                                      </p:cBhvr>
                                      <p:to>
                                        <p:strVal val="visible"/>
                                      </p:to>
                                    </p:set>
                                    <p:animEffect transition="in" filter="dissolve">
                                      <p:cBhvr>
                                        <p:cTn id="17" dur="500"/>
                                        <p:tgtEl>
                                          <p:spTgt spid="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4">
                                            <p:txEl>
                                              <p:pRg st="3" end="3"/>
                                            </p:txEl>
                                          </p:spTgt>
                                        </p:tgtEl>
                                        <p:attrNameLst>
                                          <p:attrName>style.visibility</p:attrName>
                                        </p:attrNameLst>
                                      </p:cBhvr>
                                      <p:to>
                                        <p:strVal val="visible"/>
                                      </p:to>
                                    </p:set>
                                    <p:animEffect transition="in" filter="dissolve">
                                      <p:cBhvr>
                                        <p:cTn id="22" dur="500"/>
                                        <p:tgtEl>
                                          <p:spTgt spid="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4">
                                            <p:txEl>
                                              <p:pRg st="4" end="4"/>
                                            </p:txEl>
                                          </p:spTgt>
                                        </p:tgtEl>
                                        <p:attrNameLst>
                                          <p:attrName>style.visibility</p:attrName>
                                        </p:attrNameLst>
                                      </p:cBhvr>
                                      <p:to>
                                        <p:strVal val="visible"/>
                                      </p:to>
                                    </p:set>
                                    <p:animEffect transition="in" filter="dissolve">
                                      <p:cBhvr>
                                        <p:cTn id="27" dur="500"/>
                                        <p:tgtEl>
                                          <p:spTgt spid="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4">
                                            <p:txEl>
                                              <p:pRg st="5" end="5"/>
                                            </p:txEl>
                                          </p:spTgt>
                                        </p:tgtEl>
                                        <p:attrNameLst>
                                          <p:attrName>style.visibility</p:attrName>
                                        </p:attrNameLst>
                                      </p:cBhvr>
                                      <p:to>
                                        <p:strVal val="visible"/>
                                      </p:to>
                                    </p:set>
                                    <p:animEffect transition="in" filter="dissolve">
                                      <p:cBhvr>
                                        <p:cTn id="32" dur="500"/>
                                        <p:tgtEl>
                                          <p:spTgt spid="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4">
                                            <p:txEl>
                                              <p:pRg st="6" end="6"/>
                                            </p:txEl>
                                          </p:spTgt>
                                        </p:tgtEl>
                                        <p:attrNameLst>
                                          <p:attrName>style.visibility</p:attrName>
                                        </p:attrNameLst>
                                      </p:cBhvr>
                                      <p:to>
                                        <p:strVal val="visible"/>
                                      </p:to>
                                    </p:set>
                                    <p:animEffect transition="in" filter="dissolve">
                                      <p:cBhvr>
                                        <p:cTn id="37" dur="500"/>
                                        <p:tgtEl>
                                          <p:spTgt spid="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dissolv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Shape 85"/>
        <p:cNvGrpSpPr/>
        <p:nvPr/>
      </p:nvGrpSpPr>
      <p:grpSpPr>
        <a:xfrm>
          <a:off x="0" y="0"/>
          <a:ext cx="0" cy="0"/>
          <a:chOff x="0" y="0"/>
          <a:chExt cx="0" cy="0"/>
        </a:xfrm>
      </p:grpSpPr>
      <p:sp>
        <p:nvSpPr>
          <p:cNvPr id="4" name="Rectangle 3">
            <a:extLst>
              <a:ext uri="{FF2B5EF4-FFF2-40B4-BE49-F238E27FC236}">
                <a16:creationId xmlns:a16="http://schemas.microsoft.com/office/drawing/2014/main" id="{0C24F409-77E8-4542-871C-B749C010D3CD}"/>
              </a:ext>
            </a:extLst>
          </p:cNvPr>
          <p:cNvSpPr/>
          <p:nvPr/>
        </p:nvSpPr>
        <p:spPr>
          <a:xfrm>
            <a:off x="4187559" y="1227397"/>
            <a:ext cx="4456901" cy="30915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86" name="Google Shape;86;p6"/>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Sampling Internals – Client-Side flow </a:t>
            </a:r>
            <a:endParaRPr dirty="0"/>
          </a:p>
        </p:txBody>
      </p:sp>
      <p:sp>
        <p:nvSpPr>
          <p:cNvPr id="6" name="TextBox 5">
            <a:extLst>
              <a:ext uri="{FF2B5EF4-FFF2-40B4-BE49-F238E27FC236}">
                <a16:creationId xmlns:a16="http://schemas.microsoft.com/office/drawing/2014/main" id="{4B003D7B-70C0-56F3-89F9-881366250F24}"/>
              </a:ext>
            </a:extLst>
          </p:cNvPr>
          <p:cNvSpPr txBox="1"/>
          <p:nvPr/>
        </p:nvSpPr>
        <p:spPr>
          <a:xfrm>
            <a:off x="311700" y="1213409"/>
            <a:ext cx="3550521" cy="23145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MCP Client declares sampling support </a:t>
            </a:r>
            <a:r>
              <a:rPr lang="en-US" dirty="0"/>
              <a:t>– Sends sampling capability jsonrpc message on server initialization.</a:t>
            </a:r>
            <a:endParaRPr lang="en-US" b="1" dirty="0">
              <a:latin typeface="+mn-lt"/>
            </a:endParaRPr>
          </a:p>
          <a:p>
            <a:pPr marL="285750" indent="-285750">
              <a:lnSpc>
                <a:spcPct val="150000"/>
              </a:lnSpc>
              <a:buFont typeface="Arial" panose="020B0604020202020204" pitchFamily="34" charset="0"/>
              <a:buChar char="•"/>
            </a:pPr>
            <a:r>
              <a:rPr lang="en-US" b="1" dirty="0">
                <a:latin typeface="+mn-lt"/>
              </a:rPr>
              <a:t>MCP Client bridges the server </a:t>
            </a:r>
            <a:r>
              <a:rPr lang="en-IN" b="1" dirty="0">
                <a:latin typeface="+mn-lt"/>
              </a:rPr>
              <a:t>↔</a:t>
            </a:r>
            <a:r>
              <a:rPr lang="en-US" b="1" dirty="0">
                <a:latin typeface="+mn-lt"/>
              </a:rPr>
              <a:t> LLM </a:t>
            </a:r>
            <a:r>
              <a:rPr lang="en-US" dirty="0">
                <a:latin typeface="+mn-lt"/>
              </a:rPr>
              <a:t>– Forwards requests to accessible models.</a:t>
            </a:r>
          </a:p>
        </p:txBody>
      </p:sp>
      <p:pic>
        <p:nvPicPr>
          <p:cNvPr id="8" name="Graphic 7">
            <a:extLst>
              <a:ext uri="{FF2B5EF4-FFF2-40B4-BE49-F238E27FC236}">
                <a16:creationId xmlns:a16="http://schemas.microsoft.com/office/drawing/2014/main" id="{3D4493A8-1CBE-A28E-00D5-4FC4B2DF72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32320" y="1396962"/>
            <a:ext cx="4473396" cy="27337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Rectangle 3">
            <a:extLst>
              <a:ext uri="{FF2B5EF4-FFF2-40B4-BE49-F238E27FC236}">
                <a16:creationId xmlns:a16="http://schemas.microsoft.com/office/drawing/2014/main" id="{35DA9346-4A34-7F3F-B6E0-7259FC7E056D}"/>
              </a:ext>
            </a:extLst>
          </p:cNvPr>
          <p:cNvSpPr/>
          <p:nvPr/>
        </p:nvSpPr>
        <p:spPr>
          <a:xfrm>
            <a:off x="5326540" y="1227891"/>
            <a:ext cx="3505760" cy="351692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Google Shape;81;p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Sampling Internals – Server-Side flow</a:t>
            </a:r>
            <a:endParaRPr dirty="0"/>
          </a:p>
        </p:txBody>
      </p:sp>
      <p:sp>
        <p:nvSpPr>
          <p:cNvPr id="6" name="TextBox 5">
            <a:extLst>
              <a:ext uri="{FF2B5EF4-FFF2-40B4-BE49-F238E27FC236}">
                <a16:creationId xmlns:a16="http://schemas.microsoft.com/office/drawing/2014/main" id="{E6363B80-8EBA-B8E6-0174-001BBBE3FCF3}"/>
              </a:ext>
            </a:extLst>
          </p:cNvPr>
          <p:cNvSpPr txBox="1"/>
          <p:nvPr/>
        </p:nvSpPr>
        <p:spPr>
          <a:xfrm>
            <a:off x="311700" y="2303769"/>
            <a:ext cx="3769170" cy="2246769"/>
          </a:xfrm>
          <a:prstGeom prst="rect">
            <a:avLst/>
          </a:prstGeom>
          <a:solidFill>
            <a:schemeClr val="tx1"/>
          </a:solidFill>
        </p:spPr>
        <p:txBody>
          <a:bodyPr wrap="square">
            <a:spAutoFit/>
          </a:bodyPr>
          <a:lstStyle/>
          <a:p>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"method"</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"sampling/createMessage"</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"params"</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"messages"</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"role"</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"user"</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"content"</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"type"</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"text"</a:t>
            </a:r>
            <a:r>
              <a:rPr lang="en-US" sz="700" dirty="0">
                <a:solidFill>
                  <a:schemeClr val="bg1"/>
                </a:solidFill>
                <a:latin typeface="Comic Sans MS" panose="030F0902030302020204" pitchFamily="66" charset="0"/>
              </a:rPr>
              <a:t>,</a:t>
            </a:r>
            <a:r>
              <a:rPr lang="en-US" sz="700" dirty="0">
                <a:solidFill>
                  <a:schemeClr val="accent2">
                    <a:lumMod val="60000"/>
                    <a:lumOff val="40000"/>
                  </a:schemeClr>
                </a:solidFill>
                <a:latin typeface="Comic Sans MS" panose="030F0902030302020204" pitchFamily="66" charset="0"/>
              </a:rPr>
              <a:t> </a:t>
            </a:r>
            <a:r>
              <a:rPr lang="en-US" sz="700" dirty="0">
                <a:solidFill>
                  <a:srgbClr val="00B050"/>
                </a:solidFill>
                <a:latin typeface="Comic Sans MS" panose="030F0902030302020204" pitchFamily="66" charset="0"/>
              </a:rPr>
              <a:t>"text"</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”Is it going to rain in Bengaluru?"</a:t>
            </a:r>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r>
              <a:rPr lang="en-IN" sz="700" dirty="0">
                <a:solidFill>
                  <a:srgbClr val="00B050"/>
                </a:solidFill>
                <a:latin typeface="Comic Sans MS" panose="030F0902030302020204" pitchFamily="66" charset="0"/>
              </a:rPr>
              <a:t>"tools"</a:t>
            </a:r>
            <a:r>
              <a:rPr lang="en-IN" sz="700" dirty="0">
                <a:solidFill>
                  <a:schemeClr val="bg1"/>
                </a:solidFill>
                <a:latin typeface="Comic Sans MS" panose="030F0902030302020204" pitchFamily="66" charset="0"/>
              </a:rPr>
              <a:t>:</a:t>
            </a:r>
            <a:r>
              <a:rPr lang="en-IN" sz="700" dirty="0">
                <a:solidFill>
                  <a:srgbClr val="00B050"/>
                </a:solidFill>
                <a:latin typeface="Comic Sans MS" panose="030F0902030302020204" pitchFamily="66" charset="0"/>
              </a:rPr>
              <a:t> </a:t>
            </a:r>
            <a:r>
              <a:rPr lang="en-IN" sz="700" dirty="0">
                <a:solidFill>
                  <a:schemeClr val="bg1"/>
                </a:solidFill>
                <a:latin typeface="Comic Sans MS" panose="030F0902030302020204" pitchFamily="66" charset="0"/>
              </a:rPr>
              <a:t>[ { </a:t>
            </a:r>
            <a:r>
              <a:rPr lang="en-IN" sz="700" dirty="0">
                <a:solidFill>
                  <a:srgbClr val="00B050"/>
                </a:solidFill>
                <a:latin typeface="Comic Sans MS" panose="030F0902030302020204" pitchFamily="66" charset="0"/>
              </a:rPr>
              <a:t>"name"</a:t>
            </a:r>
            <a:r>
              <a:rPr lang="en-IN" sz="700" dirty="0">
                <a:solidFill>
                  <a:schemeClr val="bg1"/>
                </a:solidFill>
                <a:latin typeface="Comic Sans MS" panose="030F0902030302020204" pitchFamily="66" charset="0"/>
              </a:rPr>
              <a:t>:</a:t>
            </a:r>
            <a:r>
              <a:rPr lang="en-IN" sz="700" dirty="0">
                <a:solidFill>
                  <a:srgbClr val="00B050"/>
                </a:solidFill>
                <a:latin typeface="Comic Sans MS" panose="030F0902030302020204" pitchFamily="66" charset="0"/>
              </a:rPr>
              <a:t> </a:t>
            </a:r>
            <a:r>
              <a:rPr lang="en-IN" sz="700" dirty="0">
                <a:solidFill>
                  <a:schemeClr val="accent2">
                    <a:lumMod val="60000"/>
                    <a:lumOff val="40000"/>
                  </a:schemeClr>
                </a:solidFill>
                <a:latin typeface="Comic Sans MS" panose="030F0902030302020204" pitchFamily="66" charset="0"/>
              </a:rPr>
              <a:t>"get_weather"</a:t>
            </a:r>
            <a:r>
              <a:rPr lang="en-IN" sz="700" dirty="0">
                <a:solidFill>
                  <a:schemeClr val="bg1"/>
                </a:solidFill>
                <a:latin typeface="Comic Sans MS" panose="030F0902030302020204" pitchFamily="66" charset="0"/>
              </a:rPr>
              <a:t>, </a:t>
            </a:r>
            <a:r>
              <a:rPr lang="en-IN" sz="700" dirty="0">
                <a:solidFill>
                  <a:srgbClr val="00B050"/>
                </a:solidFill>
                <a:latin typeface="Comic Sans MS" panose="030F0902030302020204" pitchFamily="66" charset="0"/>
              </a:rPr>
              <a:t>"description"</a:t>
            </a:r>
            <a:r>
              <a:rPr lang="en-IN" sz="700" dirty="0">
                <a:solidFill>
                  <a:schemeClr val="bg1"/>
                </a:solidFill>
                <a:latin typeface="Comic Sans MS" panose="030F0902030302020204" pitchFamily="66" charset="0"/>
              </a:rPr>
              <a:t>:</a:t>
            </a:r>
            <a:r>
              <a:rPr lang="en-IN" sz="700" dirty="0">
                <a:solidFill>
                  <a:srgbClr val="00B050"/>
                </a:solidFill>
                <a:latin typeface="Comic Sans MS" panose="030F0902030302020204" pitchFamily="66" charset="0"/>
              </a:rPr>
              <a:t> </a:t>
            </a:r>
            <a:r>
              <a:rPr lang="en-IN" sz="700" dirty="0">
                <a:solidFill>
                  <a:schemeClr val="bg1"/>
                </a:solidFill>
                <a:latin typeface="Comic Sans MS" panose="030F0902030302020204" pitchFamily="66" charset="0"/>
              </a:rPr>
              <a:t>”…", </a:t>
            </a:r>
            <a:r>
              <a:rPr lang="en-IN" sz="700" dirty="0">
                <a:solidFill>
                  <a:srgbClr val="00B050"/>
                </a:solidFill>
                <a:latin typeface="Comic Sans MS" panose="030F0902030302020204" pitchFamily="66" charset="0"/>
              </a:rPr>
              <a:t>"inputSchema"</a:t>
            </a:r>
            <a:r>
              <a:rPr lang="en-IN" sz="700" dirty="0">
                <a:solidFill>
                  <a:schemeClr val="bg1"/>
                </a:solidFill>
                <a:latin typeface="Comic Sans MS" panose="030F0902030302020204" pitchFamily="66" charset="0"/>
              </a:rPr>
              <a:t>:</a:t>
            </a:r>
            <a:r>
              <a:rPr lang="en-IN" sz="700" dirty="0">
                <a:solidFill>
                  <a:srgbClr val="00B050"/>
                </a:solidFill>
                <a:latin typeface="Comic Sans MS" panose="030F0902030302020204" pitchFamily="66" charset="0"/>
              </a:rPr>
              <a:t> </a:t>
            </a:r>
            <a:r>
              <a:rPr lang="en-IN" sz="700" dirty="0">
                <a:solidFill>
                  <a:schemeClr val="bg1"/>
                </a:solidFill>
                <a:latin typeface="Comic Sans MS" panose="030F0902030302020204" pitchFamily="66" charset="0"/>
              </a:rPr>
              <a:t>{…} ],</a:t>
            </a:r>
            <a:endParaRPr lang="en-US" sz="700" dirty="0">
              <a:solidFill>
                <a:schemeClr val="bg1"/>
              </a:solidFill>
              <a:latin typeface="Comic Sans MS" panose="030F0902030302020204" pitchFamily="66" charset="0"/>
            </a:endParaRP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"systemPrompt"</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"You are a helpful weather assistant"</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"modelPreferences"</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"hints": </a:t>
            </a:r>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"name"</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"claude-3-sonnet" </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"speedPriority"</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0.8</a:t>
            </a:r>
            <a:r>
              <a:rPr lang="en-US" sz="700" dirty="0">
                <a:solidFill>
                  <a:schemeClr val="bg1"/>
                </a:solidFill>
                <a:latin typeface="Comic Sans MS" panose="030F0902030302020204" pitchFamily="66" charset="0"/>
              </a:rPr>
              <a:t>,</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"intelligencePriority"</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0.5</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    </a:t>
            </a:r>
            <a:r>
              <a:rPr lang="en-US" sz="700" dirty="0">
                <a:solidFill>
                  <a:srgbClr val="00B050"/>
                </a:solidFill>
                <a:latin typeface="Comic Sans MS" panose="030F0902030302020204" pitchFamily="66" charset="0"/>
              </a:rPr>
              <a:t>"maxTokens"</a:t>
            </a:r>
            <a:r>
              <a:rPr lang="en-US" sz="700" dirty="0">
                <a:solidFill>
                  <a:schemeClr val="bg1"/>
                </a:solidFill>
                <a:latin typeface="Comic Sans MS" panose="030F0902030302020204" pitchFamily="66" charset="0"/>
              </a:rPr>
              <a:t>:</a:t>
            </a:r>
            <a:r>
              <a:rPr lang="en-US" sz="700" dirty="0">
                <a:solidFill>
                  <a:srgbClr val="00B050"/>
                </a:solidFill>
                <a:latin typeface="Comic Sans MS" panose="030F0902030302020204" pitchFamily="66" charset="0"/>
              </a:rPr>
              <a:t> </a:t>
            </a:r>
            <a:r>
              <a:rPr lang="en-US" sz="700" dirty="0">
                <a:solidFill>
                  <a:schemeClr val="accent2">
                    <a:lumMod val="60000"/>
                    <a:lumOff val="40000"/>
                  </a:schemeClr>
                </a:solidFill>
                <a:latin typeface="Comic Sans MS" panose="030F0902030302020204" pitchFamily="66" charset="0"/>
              </a:rPr>
              <a:t>300</a:t>
            </a:r>
          </a:p>
          <a:p>
            <a:r>
              <a:rPr lang="en-US" sz="700" dirty="0">
                <a:solidFill>
                  <a:schemeClr val="bg1"/>
                </a:solidFill>
                <a:latin typeface="Comic Sans MS" panose="030F0902030302020204" pitchFamily="66" charset="0"/>
              </a:rPr>
              <a:t>  }</a:t>
            </a:r>
          </a:p>
          <a:p>
            <a:r>
              <a:rPr lang="en-US" sz="700" dirty="0">
                <a:solidFill>
                  <a:schemeClr val="bg1"/>
                </a:solidFill>
                <a:latin typeface="Comic Sans MS" panose="030F0902030302020204" pitchFamily="66" charset="0"/>
              </a:rPr>
              <a:t>}</a:t>
            </a:r>
          </a:p>
        </p:txBody>
      </p:sp>
      <p:sp>
        <p:nvSpPr>
          <p:cNvPr id="8" name="TextBox 7">
            <a:extLst>
              <a:ext uri="{FF2B5EF4-FFF2-40B4-BE49-F238E27FC236}">
                <a16:creationId xmlns:a16="http://schemas.microsoft.com/office/drawing/2014/main" id="{83B6437C-1593-EFD1-5A16-0E186DCA71AE}"/>
              </a:ext>
            </a:extLst>
          </p:cNvPr>
          <p:cNvSpPr txBox="1"/>
          <p:nvPr/>
        </p:nvSpPr>
        <p:spPr>
          <a:xfrm>
            <a:off x="265700" y="1077627"/>
            <a:ext cx="5038791" cy="954107"/>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Tool trigger sends jsonrpc to client – Client handles the sampling request.</a:t>
            </a:r>
          </a:p>
          <a:p>
            <a:pPr marL="285750" indent="-285750">
              <a:buFont typeface="Arial" panose="020B0604020202020204" pitchFamily="34" charset="0"/>
              <a:buChar char="•"/>
            </a:pPr>
            <a:r>
              <a:rPr lang="en-US" dirty="0">
                <a:latin typeface="+mn-lt"/>
              </a:rPr>
              <a:t>Server owns tool execution – Manages tools and the agent loop.</a:t>
            </a:r>
          </a:p>
        </p:txBody>
      </p:sp>
      <p:pic>
        <p:nvPicPr>
          <p:cNvPr id="5" name="Graphic 4">
            <a:extLst>
              <a:ext uri="{FF2B5EF4-FFF2-40B4-BE49-F238E27FC236}">
                <a16:creationId xmlns:a16="http://schemas.microsoft.com/office/drawing/2014/main" id="{31AAF048-AEA6-E2A7-5018-E2DF227D43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2442" y="1323643"/>
            <a:ext cx="3593956" cy="34211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ABF89D17-0958-9B73-7372-7A279ACC16A9}"/>
            </a:ext>
          </a:extLst>
        </p:cNvPr>
        <p:cNvGrpSpPr/>
        <p:nvPr/>
      </p:nvGrpSpPr>
      <p:grpSpPr>
        <a:xfrm>
          <a:off x="0" y="0"/>
          <a:ext cx="0" cy="0"/>
          <a:chOff x="0" y="0"/>
          <a:chExt cx="0" cy="0"/>
        </a:xfrm>
      </p:grpSpPr>
      <p:sp>
        <p:nvSpPr>
          <p:cNvPr id="81" name="Google Shape;81;p5">
            <a:extLst>
              <a:ext uri="{FF2B5EF4-FFF2-40B4-BE49-F238E27FC236}">
                <a16:creationId xmlns:a16="http://schemas.microsoft.com/office/drawing/2014/main" id="{E1824753-8552-A811-5E1A-C86FBBCE0A4C}"/>
              </a:ext>
            </a:extLst>
          </p:cNvPr>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2800"/>
              <a:buNone/>
            </a:pPr>
            <a:r>
              <a:rPr lang="en-US" dirty="0"/>
              <a:t>Sampling Patterns - Demo</a:t>
            </a:r>
            <a:endParaRPr dirty="0"/>
          </a:p>
        </p:txBody>
      </p:sp>
      <p:sp>
        <p:nvSpPr>
          <p:cNvPr id="2" name="TextBox 1">
            <a:extLst>
              <a:ext uri="{FF2B5EF4-FFF2-40B4-BE49-F238E27FC236}">
                <a16:creationId xmlns:a16="http://schemas.microsoft.com/office/drawing/2014/main" id="{5613749B-A648-8BF6-F70F-9AABA33E1C27}"/>
              </a:ext>
            </a:extLst>
          </p:cNvPr>
          <p:cNvSpPr txBox="1"/>
          <p:nvPr/>
        </p:nvSpPr>
        <p:spPr>
          <a:xfrm>
            <a:off x="236593" y="1304458"/>
            <a:ext cx="6225167" cy="2677656"/>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mn-lt"/>
              </a:rPr>
              <a:t>Workflow (Single Turn flow) </a:t>
            </a:r>
            <a:r>
              <a:rPr lang="en-US" dirty="0">
                <a:latin typeface="+mn-lt"/>
              </a:rPr>
              <a:t>– </a:t>
            </a:r>
            <a:br>
              <a:rPr lang="en-US" dirty="0">
                <a:latin typeface="+mn-lt"/>
              </a:rPr>
            </a:br>
            <a:r>
              <a:rPr lang="en-US" dirty="0">
                <a:latin typeface="+mn-lt"/>
              </a:rPr>
              <a:t>Example use cases:-</a:t>
            </a:r>
            <a:br>
              <a:rPr lang="en-US" dirty="0">
                <a:latin typeface="+mn-lt"/>
              </a:rPr>
            </a:br>
            <a:r>
              <a:rPr lang="en-US" dirty="0">
                <a:latin typeface="+mn-lt"/>
              </a:rPr>
              <a:t>- Summarizing a pdf.</a:t>
            </a:r>
            <a:br>
              <a:rPr lang="en-US" dirty="0">
                <a:latin typeface="+mn-lt"/>
              </a:rPr>
            </a:br>
            <a:r>
              <a:rPr lang="en-US" dirty="0">
                <a:latin typeface="+mn-lt"/>
              </a:rPr>
              <a:t>- Explaining errors in a screenshot.</a:t>
            </a:r>
            <a:br>
              <a:rPr lang="en-US" dirty="0">
                <a:latin typeface="+mn-lt"/>
              </a:rPr>
            </a:br>
            <a:r>
              <a:rPr lang="en-US" dirty="0">
                <a:latin typeface="+mn-lt"/>
              </a:rPr>
              <a:t>- Generating new data for missing inputs.</a:t>
            </a:r>
          </a:p>
          <a:p>
            <a:pPr marL="285750" indent="-285750">
              <a:buFont typeface="Arial" panose="020B0604020202020204" pitchFamily="34" charset="0"/>
              <a:buChar char="•"/>
            </a:pPr>
            <a:r>
              <a:rPr lang="en-US" b="1" dirty="0">
                <a:latin typeface="+mn-lt"/>
              </a:rPr>
              <a:t>Agentic (Multi Turn flow) </a:t>
            </a:r>
            <a:r>
              <a:rPr lang="en-US" dirty="0">
                <a:latin typeface="+mn-lt"/>
              </a:rPr>
              <a:t>– </a:t>
            </a:r>
            <a:br>
              <a:rPr lang="en-US" dirty="0">
                <a:latin typeface="+mn-lt"/>
              </a:rPr>
            </a:br>
            <a:r>
              <a:rPr lang="en-US" dirty="0">
                <a:latin typeface="+mn-lt"/>
              </a:rPr>
              <a:t>Example use cases:-</a:t>
            </a:r>
            <a:br>
              <a:rPr lang="en-US" dirty="0">
                <a:latin typeface="+mn-lt"/>
              </a:rPr>
            </a:br>
            <a:r>
              <a:rPr lang="en-US" dirty="0">
                <a:latin typeface="+mn-lt"/>
              </a:rPr>
              <a:t>- Solving questions which requires using multiple tools like ”Who is the most recent Turing award winner in the field of AI?”.</a:t>
            </a:r>
            <a:br>
              <a:rPr lang="en-US" dirty="0">
                <a:latin typeface="+mn-lt"/>
              </a:rPr>
            </a:br>
            <a:r>
              <a:rPr lang="en-US" dirty="0">
                <a:latin typeface="+mn-lt"/>
              </a:rPr>
              <a:t>- Setting up contract testing in a new project till tests are passing and published.</a:t>
            </a:r>
          </a:p>
          <a:p>
            <a:pPr marL="285750" indent="-285750">
              <a:buFont typeface="Arial" panose="020B0604020202020204" pitchFamily="34" charset="0"/>
              <a:buChar char="•"/>
            </a:pPr>
            <a:r>
              <a:rPr lang="en-US" b="1" dirty="0">
                <a:latin typeface="+mn-lt"/>
              </a:rPr>
              <a:t>Hybrid (Mix of Workflows and Agents)</a:t>
            </a:r>
          </a:p>
        </p:txBody>
      </p:sp>
    </p:spTree>
    <p:extLst>
      <p:ext uri="{BB962C8B-B14F-4D97-AF65-F5344CB8AC3E}">
        <p14:creationId xmlns:p14="http://schemas.microsoft.com/office/powerpoint/2010/main" val="217934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ACAA61A6-07F9-936F-F9D7-42AC08E1D10D}"/>
            </a:ext>
          </a:extLst>
        </p:cNvPr>
        <p:cNvGrpSpPr/>
        <p:nvPr/>
      </p:nvGrpSpPr>
      <p:grpSpPr>
        <a:xfrm>
          <a:off x="0" y="0"/>
          <a:ext cx="0" cy="0"/>
          <a:chOff x="0" y="0"/>
          <a:chExt cx="0" cy="0"/>
        </a:xfrm>
      </p:grpSpPr>
      <p:pic>
        <p:nvPicPr>
          <p:cNvPr id="3" name="tuidemo.mov">
            <a:hlinkClick r:id="" action="ppaction://media"/>
            <a:extLst>
              <a:ext uri="{FF2B5EF4-FFF2-40B4-BE49-F238E27FC236}">
                <a16:creationId xmlns:a16="http://schemas.microsoft.com/office/drawing/2014/main" id="{1F22F41F-8EFF-626C-3ABA-ABA4DB46796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21478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560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ACAA61A6-07F9-936F-F9D7-42AC08E1D10D}"/>
            </a:ext>
          </a:extLst>
        </p:cNvPr>
        <p:cNvGrpSpPr/>
        <p:nvPr/>
      </p:nvGrpSpPr>
      <p:grpSpPr>
        <a:xfrm>
          <a:off x="0" y="0"/>
          <a:ext cx="0" cy="0"/>
          <a:chOff x="0" y="0"/>
          <a:chExt cx="0" cy="0"/>
        </a:xfrm>
      </p:grpSpPr>
      <p:pic>
        <p:nvPicPr>
          <p:cNvPr id="2" name="smarbear-mcp-demo.mov">
            <a:hlinkClick r:id="" action="ppaction://media"/>
            <a:extLst>
              <a:ext uri="{FF2B5EF4-FFF2-40B4-BE49-F238E27FC236}">
                <a16:creationId xmlns:a16="http://schemas.microsoft.com/office/drawing/2014/main" id="{3661B02A-151C-DC15-3AF5-B13626400BE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277186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74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FA35A9A0-2A70-C376-5A46-E2EBB554C8A1}"/>
            </a:ext>
          </a:extLst>
        </p:cNvPr>
        <p:cNvGrpSpPr/>
        <p:nvPr/>
      </p:nvGrpSpPr>
      <p:grpSpPr>
        <a:xfrm>
          <a:off x="0" y="0"/>
          <a:ext cx="0" cy="0"/>
          <a:chOff x="0" y="0"/>
          <a:chExt cx="0" cy="0"/>
        </a:xfrm>
      </p:grpSpPr>
      <p:sp>
        <p:nvSpPr>
          <p:cNvPr id="81" name="Google Shape;81;p5">
            <a:extLst>
              <a:ext uri="{FF2B5EF4-FFF2-40B4-BE49-F238E27FC236}">
                <a16:creationId xmlns:a16="http://schemas.microsoft.com/office/drawing/2014/main" id="{06D9FDDA-30DE-657F-1F4C-123052550098}"/>
              </a:ext>
            </a:extLst>
          </p:cNvPr>
          <p:cNvSpPr txBox="1">
            <a:spLocks noGrp="1"/>
          </p:cNvSpPr>
          <p:nvPr>
            <p:ph type="title"/>
          </p:nvPr>
        </p:nvSpPr>
        <p:spPr>
          <a:prstGeom prst="rect">
            <a:avLst/>
          </a:prstGeom>
          <a:noFill/>
          <a:ln>
            <a:noFill/>
          </a:ln>
        </p:spPr>
        <p:txBody>
          <a:bodyPr spcFirstLastPara="1" wrap="square" lIns="0" tIns="0" rIns="0" bIns="0" anchor="ctr" anchorCtr="0">
            <a:noAutofit/>
          </a:bodyPr>
          <a:lstStyle/>
          <a:p>
            <a:pPr>
              <a:lnSpc>
                <a:spcPct val="150000"/>
              </a:lnSpc>
              <a:buClr>
                <a:schemeClr val="bg1"/>
              </a:buClr>
            </a:pPr>
            <a:r>
              <a:rPr lang="en-US" dirty="0">
                <a:solidFill>
                  <a:schemeClr val="bg1"/>
                </a:solidFill>
              </a:rPr>
              <a:t>Challenges in adopting Sampling</a:t>
            </a:r>
          </a:p>
        </p:txBody>
      </p:sp>
      <p:sp>
        <p:nvSpPr>
          <p:cNvPr id="2" name="TextBox 1">
            <a:extLst>
              <a:ext uri="{FF2B5EF4-FFF2-40B4-BE49-F238E27FC236}">
                <a16:creationId xmlns:a16="http://schemas.microsoft.com/office/drawing/2014/main" id="{80DD1405-2B7D-D903-4CA2-513CDED456D1}"/>
              </a:ext>
            </a:extLst>
          </p:cNvPr>
          <p:cNvSpPr txBox="1"/>
          <p:nvPr/>
        </p:nvSpPr>
        <p:spPr>
          <a:xfrm>
            <a:off x="236593" y="1304458"/>
            <a:ext cx="8595707" cy="1600438"/>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mn-lt"/>
              </a:rPr>
              <a:t>Limited host app support</a:t>
            </a:r>
            <a:r>
              <a:rPr lang="en-IN" dirty="0">
                <a:latin typeface="+mn-lt"/>
              </a:rPr>
              <a:t> - Not all clients implement sampling. </a:t>
            </a:r>
          </a:p>
          <a:p>
            <a:pPr marL="285750" indent="-285750">
              <a:buFont typeface="Arial" panose="020B0604020202020204" pitchFamily="34" charset="0"/>
              <a:buChar char="•"/>
            </a:pPr>
            <a:r>
              <a:rPr lang="en-IN" b="1" dirty="0">
                <a:latin typeface="+mn-lt"/>
              </a:rPr>
              <a:t>No access to host tools or agents</a:t>
            </a:r>
            <a:r>
              <a:rPr lang="en-IN" dirty="0">
                <a:latin typeface="+mn-lt"/>
              </a:rPr>
              <a:t> - Must implement operations independently. </a:t>
            </a:r>
          </a:p>
          <a:p>
            <a:pPr marL="285750" indent="-285750">
              <a:buFont typeface="Arial" panose="020B0604020202020204" pitchFamily="34" charset="0"/>
              <a:buChar char="•"/>
            </a:pPr>
            <a:r>
              <a:rPr lang="en-IN" b="1" dirty="0">
                <a:latin typeface="+mn-lt"/>
              </a:rPr>
              <a:t>Human-in-the-loop adds latency</a:t>
            </a:r>
            <a:r>
              <a:rPr lang="en-IN" dirty="0">
                <a:latin typeface="+mn-lt"/>
              </a:rPr>
              <a:t> - Approval steps slow down automated flows. </a:t>
            </a:r>
          </a:p>
          <a:p>
            <a:pPr marL="285750" indent="-285750">
              <a:buFont typeface="Arial" panose="020B0604020202020204" pitchFamily="34" charset="0"/>
              <a:buChar char="•"/>
            </a:pPr>
            <a:r>
              <a:rPr lang="en-IN" b="1" dirty="0">
                <a:latin typeface="+mn-lt"/>
              </a:rPr>
              <a:t>No guaranteed model availability</a:t>
            </a:r>
            <a:r>
              <a:rPr lang="en-IN" dirty="0">
                <a:latin typeface="+mn-lt"/>
              </a:rPr>
              <a:t> - Client picks the model, not the server. </a:t>
            </a:r>
          </a:p>
          <a:p>
            <a:pPr marL="285750" indent="-285750">
              <a:buFont typeface="Arial" panose="020B0604020202020204" pitchFamily="34" charset="0"/>
              <a:buChar char="•"/>
            </a:pPr>
            <a:r>
              <a:rPr lang="en-IN" b="1" dirty="0">
                <a:latin typeface="+mn-lt"/>
              </a:rPr>
              <a:t>Capability gaps across clients</a:t>
            </a:r>
            <a:r>
              <a:rPr lang="en-IN" dirty="0">
                <a:latin typeface="+mn-lt"/>
              </a:rPr>
              <a:t> - Tool support varies by implementation. </a:t>
            </a:r>
          </a:p>
          <a:p>
            <a:pPr marL="285750" indent="-285750">
              <a:buFont typeface="Arial" panose="020B0604020202020204" pitchFamily="34" charset="0"/>
              <a:buChar char="•"/>
            </a:pPr>
            <a:r>
              <a:rPr lang="en-IN" b="1" dirty="0">
                <a:latin typeface="+mn-lt"/>
              </a:rPr>
              <a:t>Complex multi-turn state management</a:t>
            </a:r>
            <a:r>
              <a:rPr lang="en-IN" dirty="0">
                <a:latin typeface="+mn-lt"/>
              </a:rPr>
              <a:t> - Server must track full message history. </a:t>
            </a:r>
          </a:p>
          <a:p>
            <a:pPr marL="285750" indent="-285750">
              <a:buFont typeface="Arial" panose="020B0604020202020204" pitchFamily="34" charset="0"/>
              <a:buChar char="•"/>
            </a:pPr>
            <a:r>
              <a:rPr lang="en-IN" b="1" dirty="0">
                <a:latin typeface="+mn-lt"/>
              </a:rPr>
              <a:t>No standardised error handling</a:t>
            </a:r>
            <a:r>
              <a:rPr lang="en-IN" dirty="0">
                <a:latin typeface="+mn-lt"/>
              </a:rPr>
              <a:t> - Rejection and failure behaviour differs.</a:t>
            </a:r>
            <a:endParaRPr lang="en-US" dirty="0">
              <a:latin typeface="+mn-lt"/>
            </a:endParaRPr>
          </a:p>
        </p:txBody>
      </p:sp>
    </p:spTree>
    <p:extLst>
      <p:ext uri="{BB962C8B-B14F-4D97-AF65-F5344CB8AC3E}">
        <p14:creationId xmlns:p14="http://schemas.microsoft.com/office/powerpoint/2010/main" val="1780864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749F43D5-A701-9DFE-10AE-8E939376EF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4E650A-8025-26DA-5B13-9AB8338CCB79}"/>
              </a:ext>
            </a:extLst>
          </p:cNvPr>
          <p:cNvSpPr txBox="1"/>
          <p:nvPr/>
        </p:nvSpPr>
        <p:spPr>
          <a:xfrm>
            <a:off x="3689570" y="575497"/>
            <a:ext cx="2947821" cy="830997"/>
          </a:xfrm>
          <a:prstGeom prst="rect">
            <a:avLst/>
          </a:prstGeom>
          <a:noFill/>
        </p:spPr>
        <p:txBody>
          <a:bodyPr wrap="square" rtlCol="0">
            <a:spAutoFit/>
          </a:bodyPr>
          <a:lstStyle/>
          <a:p>
            <a:r>
              <a:rPr lang="en-US" sz="4800" dirty="0"/>
              <a:t>Q&amp;A</a:t>
            </a:r>
          </a:p>
        </p:txBody>
      </p:sp>
      <p:sp>
        <p:nvSpPr>
          <p:cNvPr id="4" name="TextBox 3">
            <a:extLst>
              <a:ext uri="{FF2B5EF4-FFF2-40B4-BE49-F238E27FC236}">
                <a16:creationId xmlns:a16="http://schemas.microsoft.com/office/drawing/2014/main" id="{27CD9535-F4C9-DBE0-A11C-DB6D416BE212}"/>
              </a:ext>
            </a:extLst>
          </p:cNvPr>
          <p:cNvSpPr txBox="1"/>
          <p:nvPr/>
        </p:nvSpPr>
        <p:spPr>
          <a:xfrm>
            <a:off x="2909454" y="4006631"/>
            <a:ext cx="3199915" cy="307777"/>
          </a:xfrm>
          <a:prstGeom prst="rect">
            <a:avLst/>
          </a:prstGeom>
          <a:noFill/>
        </p:spPr>
        <p:txBody>
          <a:bodyPr wrap="none" rtlCol="0">
            <a:spAutoFit/>
          </a:bodyPr>
          <a:lstStyle/>
          <a:p>
            <a:r>
              <a:rPr lang="en-US" dirty="0"/>
              <a:t>QR code to slides and code examples</a:t>
            </a:r>
          </a:p>
        </p:txBody>
      </p:sp>
      <p:pic>
        <p:nvPicPr>
          <p:cNvPr id="6" name="Picture 5">
            <a:extLst>
              <a:ext uri="{FF2B5EF4-FFF2-40B4-BE49-F238E27FC236}">
                <a16:creationId xmlns:a16="http://schemas.microsoft.com/office/drawing/2014/main" id="{EA104288-56C6-F478-0F5E-D1D7E05ECE71}"/>
              </a:ext>
            </a:extLst>
          </p:cNvPr>
          <p:cNvPicPr>
            <a:picLocks noChangeAspect="1"/>
          </p:cNvPicPr>
          <p:nvPr/>
        </p:nvPicPr>
        <p:blipFill>
          <a:blip r:embed="rId3"/>
          <a:stretch>
            <a:fillRect/>
          </a:stretch>
        </p:blipFill>
        <p:spPr>
          <a:xfrm>
            <a:off x="3466523" y="1586412"/>
            <a:ext cx="1970676" cy="1970676"/>
          </a:xfrm>
          <a:prstGeom prst="rect">
            <a:avLst/>
          </a:prstGeom>
        </p:spPr>
      </p:pic>
    </p:spTree>
    <p:extLst>
      <p:ext uri="{BB962C8B-B14F-4D97-AF65-F5344CB8AC3E}">
        <p14:creationId xmlns:p14="http://schemas.microsoft.com/office/powerpoint/2010/main" val="1840929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MCP Dev Summit Bangalore">
  <a:themeElements>
    <a:clrScheme name="Custom 2">
      <a:dk1>
        <a:srgbClr val="000000"/>
      </a:dk1>
      <a:lt1>
        <a:srgbClr val="FFFFFF"/>
      </a:lt1>
      <a:dk2>
        <a:srgbClr val="000000"/>
      </a:dk2>
      <a:lt2>
        <a:srgbClr val="EEEEEE"/>
      </a:lt2>
      <a:accent1>
        <a:srgbClr val="00C1DB"/>
      </a:accent1>
      <a:accent2>
        <a:srgbClr val="0060FA"/>
      </a:accent2>
      <a:accent3>
        <a:srgbClr val="FFC800"/>
      </a:accent3>
      <a:accent4>
        <a:srgbClr val="BC37DE"/>
      </a:accent4>
      <a:accent5>
        <a:srgbClr val="FF3C64"/>
      </a:accent5>
      <a:accent6>
        <a:srgbClr val="009EFF"/>
      </a:accent6>
      <a:hlink>
        <a:srgbClr val="00C8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2787</TotalTime>
  <Words>1238</Words>
  <Application>Microsoft Macintosh PowerPoint</Application>
  <PresentationFormat>On-screen Show (16:9)</PresentationFormat>
  <Paragraphs>111</Paragraphs>
  <Slides>13</Slides>
  <Notes>13</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Red Hat Display Medium</vt:lpstr>
      <vt:lpstr>Arial</vt:lpstr>
      <vt:lpstr>Red Hat Display Black</vt:lpstr>
      <vt:lpstr>Comic Sans MS</vt:lpstr>
      <vt:lpstr>Georgia</vt:lpstr>
      <vt:lpstr>JetBrains Mono</vt:lpstr>
      <vt:lpstr>MCP Dev Summit Bangalore</vt:lpstr>
      <vt:lpstr>Beyond Tools and Resources:  A Deep Dive into MCP Sampling for Agentic Features </vt:lpstr>
      <vt:lpstr>AGENDA</vt:lpstr>
      <vt:lpstr>Problem Statement</vt:lpstr>
      <vt:lpstr>Introduction to Sampling</vt:lpstr>
      <vt:lpstr>Sampling Capabilities</vt:lpstr>
      <vt:lpstr>Sampling Internals – Client-Side flow </vt:lpstr>
      <vt:lpstr>Sampling Internals – Server-Side flow</vt:lpstr>
      <vt:lpstr>Sampling Patterns - Demo</vt:lpstr>
      <vt:lpstr>PowerPoint Presentation</vt:lpstr>
      <vt:lpstr>PowerPoint Presentation</vt:lpstr>
      <vt:lpstr>Challenges in adopting Sampling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Rohan Vaz</cp:lastModifiedBy>
  <cp:revision>8</cp:revision>
  <dcterms:modified xsi:type="dcterms:W3CDTF">2026-06-10T13:04:20Z</dcterms:modified>
</cp:coreProperties>
</file>